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EFA4F1-44B6-4B03-93CD-EF903832A0CF}">
  <a:tblStyle styleId="{12EFA4F1-44B6-4B03-93CD-EF903832A0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d61b70f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8d61b70f4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e825f24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8e825f24c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9b03d5616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9b03d561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9ae5796b6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9ae5796b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9ae5796b6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9ae5796b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NE-LOGO_EES-Positi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311858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150" y="0"/>
            <a:ext cx="87376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5"/>
          <p:cNvCxnSpPr/>
          <p:nvPr/>
        </p:nvCxnSpPr>
        <p:spPr>
          <a:xfrm>
            <a:off x="1130800" y="3983725"/>
            <a:ext cx="10607100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95" name="Google Shape;95;p15"/>
          <p:cNvSpPr txBox="1"/>
          <p:nvPr/>
        </p:nvSpPr>
        <p:spPr>
          <a:xfrm rot="-2556706">
            <a:off x="955301" y="2253217"/>
            <a:ext cx="3095149" cy="71911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2013 primeras obras de PRE- Como Negocio secundario para ambos socios. Hacíamos PRE, luego Ñuke y bastante después Termos solares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1236359" y="3892462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2895404" y="389245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434202" y="3885125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024174" y="3884282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 rot="-2556286">
            <a:off x="757505" y="4691877"/>
            <a:ext cx="2395791" cy="47494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 18 - Primeros cierres de ventas de obras grandes de edificios 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142873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Línea de Tiempo - Hitos Claves en la historia de la empresa</a:t>
            </a:r>
            <a:b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 rot="-2556291">
            <a:off x="3212138" y="2633895"/>
            <a:ext cx="2695371" cy="28811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Julio 19 - Mi socio decide dejar NE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 rot="-2556330">
            <a:off x="4913077" y="2553171"/>
            <a:ext cx="2599615" cy="65415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junio 20 - Terra (empresa Desarrolladora) empieza a desaparecer y NE tiene que pagar sus costos fijos 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060272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 rot="-2556396">
            <a:off x="4475661" y="4623098"/>
            <a:ext cx="1833784" cy="30276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julio  22 - Empiezo Vistage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830872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7690797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 rot="-2556158">
            <a:off x="6678206" y="2688869"/>
            <a:ext cx="3012366" cy="31719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 -dic 22 Ventas Grandes de ttqs solares IPV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8209634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9844122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9350022" y="388512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819609" y="389462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 rot="-2556195">
            <a:off x="8067169" y="2643656"/>
            <a:ext cx="2764590" cy="46582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sept-oct 24- Planteamos estrategia comercial agresiva con FV p/B2B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 rot="-2556195">
            <a:off x="7377794" y="4961506"/>
            <a:ext cx="2764590" cy="46582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 25 - Cerramos balance muy positivo. Estrategia comercial  Funcionando. 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 rot="-2555822">
            <a:off x="10761291" y="2970933"/>
            <a:ext cx="1634217" cy="48598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25 - más de 1MWp de gen instal.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 rot="-2556330">
            <a:off x="6504804" y="4866927"/>
            <a:ext cx="2599615" cy="41868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 24 - Nos mudamos a Porto. 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8807422" y="389462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 rot="-2556279">
            <a:off x="5162873" y="4904487"/>
            <a:ext cx="2903230" cy="46728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 23 - empezamos a desarrollar mi marca personal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 rot="-2556330">
            <a:off x="9119979" y="2638577"/>
            <a:ext cx="2599615" cy="41868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ene/feb 25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crisis financiera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6"/>
          <p:cNvGrpSpPr/>
          <p:nvPr/>
        </p:nvGrpSpPr>
        <p:grpSpPr>
          <a:xfrm>
            <a:off x="227338" y="180565"/>
            <a:ext cx="11737503" cy="6349347"/>
            <a:chOff x="0" y="0"/>
            <a:chExt cx="10224306" cy="7066608"/>
          </a:xfrm>
        </p:grpSpPr>
        <p:sp>
          <p:nvSpPr>
            <p:cNvPr id="126" name="Google Shape;126;p16"/>
            <p:cNvSpPr txBox="1"/>
            <p:nvPr/>
          </p:nvSpPr>
          <p:spPr>
            <a:xfrm>
              <a:off x="0" y="9427"/>
              <a:ext cx="3443100" cy="1923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0" y="0"/>
              <a:ext cx="34431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PROPÓSITO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0" y="1932495"/>
              <a:ext cx="10221600" cy="1166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0" y="1932495"/>
              <a:ext cx="102216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VALORES MEDULARES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3440784" y="9427"/>
              <a:ext cx="3379500" cy="1923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3440784" y="0"/>
              <a:ext cx="33798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MISIÓN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6825006" y="9427"/>
              <a:ext cx="3398400" cy="1923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6825006" y="0"/>
              <a:ext cx="33990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META A 10 AÑOS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0" y="3252247"/>
              <a:ext cx="3373800" cy="188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0" y="3233394"/>
              <a:ext cx="33738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FORTALEZAS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6825006" y="3242821"/>
              <a:ext cx="3399300" cy="1916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6825006" y="3233394"/>
              <a:ext cx="33993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METAS PARA EL AÑO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0" y="5137608"/>
              <a:ext cx="3373800" cy="1929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0" y="5128181"/>
              <a:ext cx="33738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DEBILIDADES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3374796" y="3252247"/>
              <a:ext cx="3373800" cy="188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3374796" y="3233394"/>
              <a:ext cx="33738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OPORTUNIDADES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3374796" y="5137608"/>
              <a:ext cx="3373800" cy="1929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3374796" y="5128181"/>
              <a:ext cx="33738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AMENAZAS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6825006" y="5137608"/>
              <a:ext cx="3399300" cy="1916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6825006" y="5128181"/>
              <a:ext cx="33993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ROCAS A ACOMODAR EN EL 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TRIMESTRE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16"/>
          <p:cNvSpPr txBox="1"/>
          <p:nvPr/>
        </p:nvSpPr>
        <p:spPr>
          <a:xfrm rot="-174805">
            <a:off x="556908" y="586772"/>
            <a:ext cx="2927584" cy="110993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Inspirar y acompañar la transición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energética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mundo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 rot="-228760">
            <a:off x="333194" y="2332107"/>
            <a:ext cx="1633215" cy="4660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Eficiencia: Hacemos mucho con poco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 rot="236039">
            <a:off x="2157728" y="2313258"/>
            <a:ext cx="2374395" cy="52593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Responsabilidad: nos hacemos cargo de lo que nos toca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 rot="-295951">
            <a:off x="4726563" y="2332050"/>
            <a:ext cx="1800367" cy="46613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Entusiasmo: nos gusta lo que hacemos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 rot="320181">
            <a:off x="6667505" y="2319212"/>
            <a:ext cx="2664448" cy="52007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Creatividad: pensamos siempre diferentes maneras de hacer las cosas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 rot="-228638">
            <a:off x="9476930" y="2245028"/>
            <a:ext cx="2324740" cy="54209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Profesionalismo: cumplimos con lo prometido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 rot="-228251">
            <a:off x="308975" y="3532980"/>
            <a:ext cx="1270600" cy="55774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humano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 rot="-174756">
            <a:off x="8206197" y="571456"/>
            <a:ext cx="3642806" cy="106578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>
                <a:solidFill>
                  <a:schemeClr val="dk1"/>
                </a:solidFill>
              </a:rPr>
              <a:t>Haber disminuido la huella de carbono en   500 k Ton CO2, con nuestras soluciones, directa o indirectamente.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>
                <a:solidFill>
                  <a:schemeClr val="dk1"/>
                </a:solidFill>
              </a:rPr>
              <a:t>Haber instalado 1000 MWp de generacion FV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54" name="Google Shape;154;p16"/>
          <p:cNvSpPr txBox="1"/>
          <p:nvPr/>
        </p:nvSpPr>
        <p:spPr>
          <a:xfrm rot="187935">
            <a:off x="4510805" y="576406"/>
            <a:ext cx="3206390" cy="126158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Desde nuestro nuestro know - how de más de 10 años, pensamos, analizamos y diseñamos proyectos a medida de cada cliente, explorando todas las alternativas, para luego implementar </a:t>
            </a:r>
            <a:r>
              <a:rPr b="1" lang="es-ES" sz="1200">
                <a:solidFill>
                  <a:schemeClr val="dk1"/>
                </a:solidFill>
              </a:rPr>
              <a:t>la mejor solución posible</a:t>
            </a:r>
            <a:r>
              <a:rPr lang="es-ES" sz="1200">
                <a:solidFill>
                  <a:schemeClr val="dk1"/>
                </a:solidFill>
              </a:rPr>
              <a:t> </a:t>
            </a:r>
            <a:r>
              <a:rPr lang="es-ES" sz="1200">
                <a:solidFill>
                  <a:schemeClr val="dk1"/>
                </a:solidFill>
              </a:rPr>
              <a:t>en eficiencia energética</a:t>
            </a:r>
            <a:r>
              <a:rPr lang="es-ES" sz="12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 rot="236228">
            <a:off x="1529080" y="3434420"/>
            <a:ext cx="1542340" cy="4874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Buen soporte técnico de proveedores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 rot="308401">
            <a:off x="329771" y="4142810"/>
            <a:ext cx="1058155" cy="52107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 how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 rot="-229656">
            <a:off x="4227187" y="3462550"/>
            <a:ext cx="1267327" cy="69845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Tarifas electr. subieron 300%+ en 24 meses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 rot="235458">
            <a:off x="6581320" y="3412744"/>
            <a:ext cx="1358886" cy="82906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Interés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algunas empresas por ser sustentables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 rot="308802">
            <a:off x="4202807" y="4302419"/>
            <a:ext cx="1043407" cy="41026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Mercado más informado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 rot="-228159">
            <a:off x="4327268" y="5188559"/>
            <a:ext cx="1800364" cy="4007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>
                <a:solidFill>
                  <a:schemeClr val="dk1"/>
                </a:solidFill>
              </a:rPr>
              <a:t>Inestabilidad macro.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1" name="Google Shape;161;p16"/>
          <p:cNvSpPr txBox="1"/>
          <p:nvPr/>
        </p:nvSpPr>
        <p:spPr>
          <a:xfrm rot="236444">
            <a:off x="6202908" y="5242576"/>
            <a:ext cx="1462358" cy="27574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</a:rPr>
              <a:t>Mercado Recesivo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2" name="Google Shape;162;p16"/>
          <p:cNvSpPr txBox="1"/>
          <p:nvPr/>
        </p:nvSpPr>
        <p:spPr>
          <a:xfrm rot="-228542">
            <a:off x="8242799" y="3380194"/>
            <a:ext cx="1585101" cy="60162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Agente IA vendiendo todos los prod. NE Hogar y crosseling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 rot="236347">
            <a:off x="9812243" y="3563742"/>
            <a:ext cx="1362519" cy="64716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ingresos recurrentes c/Gest. 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8229350" y="4101375"/>
            <a:ext cx="1901700" cy="623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Desarrollo comercial de clientes FV actuales (BN y ampliaciones)</a:t>
            </a:r>
            <a:endParaRPr sz="1200"/>
          </a:p>
        </p:txBody>
      </p:sp>
      <p:sp>
        <p:nvSpPr>
          <p:cNvPr id="165" name="Google Shape;165;p16"/>
          <p:cNvSpPr txBox="1"/>
          <p:nvPr/>
        </p:nvSpPr>
        <p:spPr>
          <a:xfrm rot="-228656">
            <a:off x="8242088" y="5196351"/>
            <a:ext cx="1457924" cy="44980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automatizar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envíos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informes c/IA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 rot="363273">
            <a:off x="9912186" y="5121757"/>
            <a:ext cx="1422133" cy="62658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Agente IA bba de calor funcionando MVP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 rot="308626">
            <a:off x="410159" y="5816974"/>
            <a:ext cx="1535885" cy="53675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faltan ordenar procesos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 rot="-228656">
            <a:off x="2256177" y="5949936"/>
            <a:ext cx="1457924" cy="4660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poco patrimonio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 rot="236727">
            <a:off x="1129449" y="5125006"/>
            <a:ext cx="2254142" cy="62008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Altos costos financieros por deudas (bajando)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 rot="-228548">
            <a:off x="4218280" y="5678299"/>
            <a:ext cx="1851490" cy="6800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 de la Competencia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(muchos paracaidistas)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 rot="235439">
            <a:off x="6595774" y="4242886"/>
            <a:ext cx="1310773" cy="37167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Neto (BN) destrabado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 rot="235378">
            <a:off x="5352210" y="4188714"/>
            <a:ext cx="1144482" cy="53617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Importaciones más flexibles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10208775" y="4216800"/>
            <a:ext cx="1483200" cy="480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duplicar Ventas $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 rot="363205">
            <a:off x="8130416" y="5836957"/>
            <a:ext cx="1681275" cy="31708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Aprobar 4 Nuevos BN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 rot="-228897">
            <a:off x="2750222" y="4027511"/>
            <a:ext cx="1312107" cy="73961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Marca Personal y de Empresa Desarrollada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 rot="-228455">
            <a:off x="6207962" y="5782061"/>
            <a:ext cx="1585700" cy="44106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tasas altas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 rot="-228806">
            <a:off x="9909833" y="5759954"/>
            <a:ext cx="1777235" cy="44499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depto de Ing (proyectos) desarrollado p/ BN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 rot="235962">
            <a:off x="5425917" y="3482060"/>
            <a:ext cx="1089165" cy="6904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 queriendo ajustar costos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7"/>
          <p:cNvGrpSpPr/>
          <p:nvPr/>
        </p:nvGrpSpPr>
        <p:grpSpPr>
          <a:xfrm>
            <a:off x="214630" y="252095"/>
            <a:ext cx="11738831" cy="6362065"/>
            <a:chOff x="0" y="0"/>
            <a:chExt cx="10210726" cy="7062366"/>
          </a:xfrm>
        </p:grpSpPr>
        <p:sp>
          <p:nvSpPr>
            <p:cNvPr id="186" name="Google Shape;186;p17"/>
            <p:cNvSpPr txBox="1"/>
            <p:nvPr/>
          </p:nvSpPr>
          <p:spPr>
            <a:xfrm>
              <a:off x="6192695" y="2541402"/>
              <a:ext cx="2035810" cy="252248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7" name="Google Shape;187;p17"/>
            <p:cNvSpPr txBox="1"/>
            <p:nvPr/>
          </p:nvSpPr>
          <p:spPr>
            <a:xfrm>
              <a:off x="8229600" y="0"/>
              <a:ext cx="1976453" cy="50615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8229600" y="0"/>
              <a:ext cx="197612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SEGMENTOS DE CLIENTES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6192695" y="0"/>
              <a:ext cx="2035810" cy="25414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4130566" y="0"/>
              <a:ext cx="2064385" cy="507019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0" y="6306"/>
              <a:ext cx="2095916" cy="50615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0" y="5063884"/>
              <a:ext cx="5114334" cy="19983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5114334" y="5063884"/>
              <a:ext cx="5096392" cy="199848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4" name="Google Shape;194;p17"/>
            <p:cNvSpPr txBox="1"/>
            <p:nvPr/>
          </p:nvSpPr>
          <p:spPr>
            <a:xfrm>
              <a:off x="4130566" y="0"/>
              <a:ext cx="2062129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PROPUESTA DE VALOR CLIENTES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7"/>
            <p:cNvSpPr txBox="1"/>
            <p:nvPr/>
          </p:nvSpPr>
          <p:spPr>
            <a:xfrm>
              <a:off x="6192695" y="2541402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CANALES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6192695" y="0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RELACIONES CON CLIENTES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2093661" y="2541402"/>
              <a:ext cx="2035810" cy="25222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2093661" y="0"/>
              <a:ext cx="2035810" cy="254127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9" name="Google Shape;199;p17"/>
            <p:cNvSpPr txBox="1"/>
            <p:nvPr/>
          </p:nvSpPr>
          <p:spPr>
            <a:xfrm>
              <a:off x="2093661" y="2541402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RECURSOS CLAVES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2093661" y="0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ACTIVIDADES CLAVES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0" y="6306"/>
              <a:ext cx="209550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ASOCIACIONES CLAVES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5114334" y="5063884"/>
              <a:ext cx="5090795" cy="289517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FUENTES DE 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INGRESOS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0" y="5063884"/>
              <a:ext cx="5114334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COSTOS PRINCIPALES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7"/>
          <p:cNvSpPr txBox="1"/>
          <p:nvPr/>
        </p:nvSpPr>
        <p:spPr>
          <a:xfrm rot="-361116">
            <a:off x="9914012" y="994578"/>
            <a:ext cx="1782525" cy="48750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Tabacaleras / Productores </a:t>
            </a: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agropecuarios</a:t>
            </a: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/viñedos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 rot="178888">
            <a:off x="9904124" y="1743499"/>
            <a:ext cx="1701503" cy="4602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 comerciales (EESS y Supers, distribuidoras)/Salud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 rot="-228760">
            <a:off x="634068" y="794354"/>
            <a:ext cx="1633215" cy="30157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WEGA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 rot="-348943">
            <a:off x="608247" y="1232389"/>
            <a:ext cx="1643157" cy="29973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Norte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 rot="225610">
            <a:off x="657732" y="1731904"/>
            <a:ext cx="1633116" cy="32619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Logistica Salta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 rot="178817">
            <a:off x="7514552" y="2884061"/>
            <a:ext cx="1973369" cy="28298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 / LinkedIN/Youtube/Tik Tok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 rot="-317522">
            <a:off x="7389059" y="3189460"/>
            <a:ext cx="1626332" cy="38052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campañas Whaticket/Whatsapp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 rot="-159991">
            <a:off x="7566631" y="564320"/>
            <a:ext cx="1928088" cy="46941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/>
              <a:t>Informes mensuales de </a:t>
            </a:r>
            <a:r>
              <a:rPr lang="es-ES" sz="1200"/>
              <a:t>generación</a:t>
            </a:r>
            <a:r>
              <a:rPr lang="es-ES" sz="1200"/>
              <a:t> FV y CO2 evit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 rot="170718">
            <a:off x="7597707" y="1107534"/>
            <a:ext cx="1807028" cy="30728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Servicios posventas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 rot="-168098">
            <a:off x="7601727" y="1405099"/>
            <a:ext cx="1921096" cy="47997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Agente de IA de posventa (en desarrollo)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 rot="-168771">
            <a:off x="2671873" y="4211086"/>
            <a:ext cx="831402" cy="50188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 rot="-244383">
            <a:off x="2681275" y="3476271"/>
            <a:ext cx="1267100" cy="63850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Comercial implementado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 rot="179007">
            <a:off x="2793682" y="632036"/>
            <a:ext cx="2063497" cy="3178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de sistemas EERR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 rot="-317537">
            <a:off x="2887075" y="1001436"/>
            <a:ext cx="1876700" cy="28201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Gestoría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 rot="-234372">
            <a:off x="2888139" y="1358861"/>
            <a:ext cx="1774723" cy="31452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Consultoría en Ef 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 rot="-174642">
            <a:off x="5066934" y="809413"/>
            <a:ext cx="2079583" cy="339167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Diseñamos e implementamos </a:t>
            </a: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soluciones integrales de  eficiencia energética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—consultoría, proyectos y sistemas— para reducir costos energéticos, aumentar la eficiencia y disminuir las emisiones de CO₂. </a:t>
            </a: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Medimos, analizamos y monitoreamos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desempeño para asegurar resultados sostenidos y mejora continua. Vendemos </a:t>
            </a: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AHORRO </a:t>
            </a: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ENERGÉTICO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 solo paneles solares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 rot="-344305">
            <a:off x="6241851" y="5253618"/>
            <a:ext cx="1905248" cy="45287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e instalaciones  de Sistemas FV 80%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 rot="-364334">
            <a:off x="8244653" y="5299551"/>
            <a:ext cx="1593843" cy="49085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Consultorías/asesoramientos/Proy BN 0.9 %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 rot="178935">
            <a:off x="314960" y="5004521"/>
            <a:ext cx="1804844" cy="4935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CV/costo de equipos vendidos 82%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 rot="-317981">
            <a:off x="2434141" y="5161106"/>
            <a:ext cx="1419367" cy="32028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CF/Sueldos 46%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435425" y="5488750"/>
            <a:ext cx="1563900" cy="27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CV/comisiones 5%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 rot="-234474">
            <a:off x="2327264" y="5521536"/>
            <a:ext cx="1633097" cy="28325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CF/Alquileres 5%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 rot="412650">
            <a:off x="3946834" y="3600995"/>
            <a:ext cx="766616" cy="33660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 rot="-361234">
            <a:off x="10036146" y="2457706"/>
            <a:ext cx="1633208" cy="36018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Industrias/Bodegas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 rot="-228742">
            <a:off x="502593" y="2205078"/>
            <a:ext cx="2016863" cy="29105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 (benja Cornejo)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 rot="-228760">
            <a:off x="657718" y="2577754"/>
            <a:ext cx="1633215" cy="30157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Ñuke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 rot="-168232">
            <a:off x="2895772" y="2972933"/>
            <a:ext cx="1612931" cy="44573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 rot="-159514">
            <a:off x="7574960" y="1991781"/>
            <a:ext cx="1979130" cy="40813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/>
              <a:t>Crosselling con Agente IA (en desarrollo)</a:t>
            </a:r>
            <a:endParaRPr sz="1100"/>
          </a:p>
        </p:txBody>
      </p:sp>
      <p:sp>
        <p:nvSpPr>
          <p:cNvPr id="234" name="Google Shape;234;p17"/>
          <p:cNvSpPr txBox="1"/>
          <p:nvPr/>
        </p:nvSpPr>
        <p:spPr>
          <a:xfrm rot="-168269">
            <a:off x="3554355" y="4110925"/>
            <a:ext cx="1244691" cy="47305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Marca Personal Desarrollada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 rot="225610">
            <a:off x="657157" y="3059841"/>
            <a:ext cx="1633116" cy="32619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 rot="225610">
            <a:off x="613257" y="3862704"/>
            <a:ext cx="1633116" cy="32619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SAESA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 rot="179007">
            <a:off x="2807407" y="1724511"/>
            <a:ext cx="2063497" cy="3178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datos con 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 rot="178537">
            <a:off x="7509383" y="4338200"/>
            <a:ext cx="826414" cy="42415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fuerza de venta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 rot="178785">
            <a:off x="7381483" y="3651937"/>
            <a:ext cx="1258101" cy="28717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Newsletter/mail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 rot="-317642">
            <a:off x="7388781" y="3999561"/>
            <a:ext cx="1203032" cy="26060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Agente IA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 rot="-361234">
            <a:off x="10066371" y="2986898"/>
            <a:ext cx="1633208" cy="47210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Residencial ABC1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 rot="-228740">
            <a:off x="445248" y="3463690"/>
            <a:ext cx="1967253" cy="35152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Estudios de Arq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 rot="178587">
            <a:off x="8777430" y="3447406"/>
            <a:ext cx="820407" cy="36678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Podcast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 rot="179612">
            <a:off x="8765387" y="4065297"/>
            <a:ext cx="844452" cy="29950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Blog/Web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 rot="-228883">
            <a:off x="9969872" y="3576530"/>
            <a:ext cx="1763106" cy="40981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Desarrolladoras inmobiliarias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 rot="179332">
            <a:off x="8484028" y="4450753"/>
            <a:ext cx="1208244" cy="34756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Eventos/</a:t>
            </a: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Charlas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 rot="178819">
            <a:off x="6240878" y="5872524"/>
            <a:ext cx="1863721" cy="41035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e instal. de Sistemas Biomasa 3.9%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 rot="-317890">
            <a:off x="9687248" y="5348730"/>
            <a:ext cx="1920103" cy="49169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e instal. de Sistemas ACS 5.5%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 rot="-317965">
            <a:off x="8059433" y="5962190"/>
            <a:ext cx="1867683" cy="50586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e instal. de Sistemas Calef Electr 2.7%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 rot="178819">
            <a:off x="9869903" y="6036874"/>
            <a:ext cx="1863721" cy="41035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e instal. de Sistemas Climat piletas 7%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 rot="-317720">
            <a:off x="2816873" y="2096184"/>
            <a:ext cx="2051154" cy="3046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Atención al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c/IA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295425" y="5760550"/>
            <a:ext cx="1723200" cy="27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CV/operativos  3%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375075" y="5988700"/>
            <a:ext cx="1563900" cy="27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CV/corralones 6%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2305625" y="5909425"/>
            <a:ext cx="1563900" cy="27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CF/asesores 3.5%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2361875" y="6230550"/>
            <a:ext cx="1820100" cy="27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CF/suscripciones 0.5%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3944825" y="5237050"/>
            <a:ext cx="1791900" cy="27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/MKT 5%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4058825" y="5546250"/>
            <a:ext cx="1941000" cy="34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CF/ctos financieros 40%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246875" y="6248200"/>
            <a:ext cx="1947900" cy="27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CV/ctos financieros 4%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18"/>
          <p:cNvGrpSpPr/>
          <p:nvPr/>
        </p:nvGrpSpPr>
        <p:grpSpPr>
          <a:xfrm>
            <a:off x="196312" y="54758"/>
            <a:ext cx="11876418" cy="6653721"/>
            <a:chOff x="0" y="0"/>
            <a:chExt cx="10234645" cy="7157370"/>
          </a:xfrm>
        </p:grpSpPr>
        <p:grpSp>
          <p:nvGrpSpPr>
            <p:cNvPr id="264" name="Google Shape;264;p18"/>
            <p:cNvGrpSpPr/>
            <p:nvPr/>
          </p:nvGrpSpPr>
          <p:grpSpPr>
            <a:xfrm>
              <a:off x="0" y="6306"/>
              <a:ext cx="2095500" cy="2076845"/>
              <a:chOff x="0" y="0"/>
              <a:chExt cx="2095500" cy="2076845"/>
            </a:xfrm>
          </p:grpSpPr>
          <p:sp>
            <p:nvSpPr>
              <p:cNvPr id="265" name="Google Shape;265;p18"/>
              <p:cNvSpPr txBox="1"/>
              <p:nvPr/>
            </p:nvSpPr>
            <p:spPr>
              <a:xfrm>
                <a:off x="0" y="6307"/>
                <a:ext cx="2095500" cy="1036948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66" name="Google Shape;266;p18"/>
              <p:cNvSpPr txBox="1"/>
              <p:nvPr/>
            </p:nvSpPr>
            <p:spPr>
              <a:xfrm>
                <a:off x="0" y="0"/>
                <a:ext cx="2095500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ROL VISIONARIO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8"/>
              <p:cNvSpPr txBox="1"/>
              <p:nvPr/>
            </p:nvSpPr>
            <p:spPr>
              <a:xfrm>
                <a:off x="0" y="1040525"/>
                <a:ext cx="2095500" cy="10363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68" name="Google Shape;268;p18"/>
              <p:cNvSpPr txBox="1"/>
              <p:nvPr/>
            </p:nvSpPr>
            <p:spPr>
              <a:xfrm>
                <a:off x="0" y="1040525"/>
                <a:ext cx="2095500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ROL INTEGRADOR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" name="Google Shape;269;p18"/>
            <p:cNvGrpSpPr/>
            <p:nvPr/>
          </p:nvGrpSpPr>
          <p:grpSpPr>
            <a:xfrm>
              <a:off x="2207172" y="0"/>
              <a:ext cx="8027473" cy="2088471"/>
              <a:chOff x="0" y="0"/>
              <a:chExt cx="8027473" cy="2088471"/>
            </a:xfrm>
          </p:grpSpPr>
          <p:sp>
            <p:nvSpPr>
              <p:cNvPr id="270" name="Google Shape;270;p18"/>
              <p:cNvSpPr txBox="1"/>
              <p:nvPr/>
            </p:nvSpPr>
            <p:spPr>
              <a:xfrm>
                <a:off x="0" y="6306"/>
                <a:ext cx="8027189" cy="2082165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1" name="Google Shape;271;p18"/>
              <p:cNvSpPr txBox="1"/>
              <p:nvPr/>
            </p:nvSpPr>
            <p:spPr>
              <a:xfrm>
                <a:off x="0" y="0"/>
                <a:ext cx="8027189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ÁREAS QUE REPORTAN AL CEO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8"/>
              <p:cNvSpPr txBox="1"/>
              <p:nvPr/>
            </p:nvSpPr>
            <p:spPr>
              <a:xfrm>
                <a:off x="0" y="283780"/>
                <a:ext cx="2579239" cy="1804691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3" name="Google Shape;273;p18"/>
              <p:cNvSpPr txBox="1"/>
              <p:nvPr/>
            </p:nvSpPr>
            <p:spPr>
              <a:xfrm>
                <a:off x="0" y="283780"/>
                <a:ext cx="2579239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6.1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ADMINISTRACIÓN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8"/>
              <p:cNvSpPr txBox="1"/>
              <p:nvPr/>
            </p:nvSpPr>
            <p:spPr>
              <a:xfrm>
                <a:off x="5480094" y="283780"/>
                <a:ext cx="2547379" cy="180467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5" name="Google Shape;275;p18"/>
              <p:cNvSpPr txBox="1"/>
              <p:nvPr/>
            </p:nvSpPr>
            <p:spPr>
              <a:xfrm>
                <a:off x="5480094" y="283780"/>
                <a:ext cx="2547379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6.3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VENTAS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8"/>
              <p:cNvSpPr txBox="1"/>
              <p:nvPr/>
            </p:nvSpPr>
            <p:spPr>
              <a:xfrm>
                <a:off x="2579239" y="283780"/>
                <a:ext cx="2900855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6.2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OPERACIONES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18"/>
            <p:cNvGrpSpPr/>
            <p:nvPr/>
          </p:nvGrpSpPr>
          <p:grpSpPr>
            <a:xfrm>
              <a:off x="2207172" y="2156723"/>
              <a:ext cx="6336665" cy="1770840"/>
              <a:chOff x="0" y="0"/>
              <a:chExt cx="6336665" cy="1770840"/>
            </a:xfrm>
          </p:grpSpPr>
          <p:sp>
            <p:nvSpPr>
              <p:cNvPr id="278" name="Google Shape;278;p18"/>
              <p:cNvSpPr txBox="1"/>
              <p:nvPr/>
            </p:nvSpPr>
            <p:spPr>
              <a:xfrm>
                <a:off x="0" y="0"/>
                <a:ext cx="6336665" cy="283169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TU EQUIPO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9" name="Google Shape;279;p18"/>
              <p:cNvGrpSpPr/>
              <p:nvPr/>
            </p:nvGrpSpPr>
            <p:grpSpPr>
              <a:xfrm>
                <a:off x="4988210" y="283779"/>
                <a:ext cx="1344712" cy="1443674"/>
                <a:chOff x="0" y="0"/>
                <a:chExt cx="1344712" cy="1443674"/>
              </a:xfrm>
            </p:grpSpPr>
            <p:sp>
              <p:nvSpPr>
                <p:cNvPr id="280" name="Google Shape;280;p18"/>
                <p:cNvSpPr txBox="1"/>
                <p:nvPr/>
              </p:nvSpPr>
              <p:spPr>
                <a:xfrm>
                  <a:off x="0" y="0"/>
                  <a:ext cx="1344712" cy="283169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7.4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PUESTO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8"/>
                <p:cNvSpPr txBox="1"/>
                <p:nvPr/>
              </p:nvSpPr>
              <p:spPr>
                <a:xfrm rot="-5400000">
                  <a:off x="533826" y="634727"/>
                  <a:ext cx="1160610" cy="445748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CAPACIDADES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18"/>
                <p:cNvSpPr txBox="1"/>
                <p:nvPr/>
              </p:nvSpPr>
              <p:spPr>
                <a:xfrm rot="-5400000">
                  <a:off x="88605" y="637245"/>
                  <a:ext cx="1160610" cy="450828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DESEA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18"/>
                <p:cNvSpPr txBox="1"/>
                <p:nvPr/>
              </p:nvSpPr>
              <p:spPr>
                <a:xfrm rot="-5400000">
                  <a:off x="-355666" y="640716"/>
                  <a:ext cx="1160145" cy="445770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7.5 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COMPRENDE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4" name="Google Shape;284;p18"/>
              <p:cNvGrpSpPr/>
              <p:nvPr/>
            </p:nvGrpSpPr>
            <p:grpSpPr>
              <a:xfrm>
                <a:off x="0" y="283779"/>
                <a:ext cx="4946619" cy="1487061"/>
                <a:chOff x="0" y="0"/>
                <a:chExt cx="4946619" cy="1487061"/>
              </a:xfrm>
            </p:grpSpPr>
            <p:sp>
              <p:nvSpPr>
                <p:cNvPr id="285" name="Google Shape;285;p18"/>
                <p:cNvSpPr txBox="1"/>
                <p:nvPr/>
              </p:nvSpPr>
              <p:spPr>
                <a:xfrm>
                  <a:off x="1734207" y="0"/>
                  <a:ext cx="3212412" cy="283130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7.2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COMPORTAMIENTOS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18"/>
                <p:cNvSpPr txBox="1"/>
                <p:nvPr/>
              </p:nvSpPr>
              <p:spPr>
                <a:xfrm>
                  <a:off x="0" y="1204486"/>
                  <a:ext cx="1671145" cy="282575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7.1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PERSONA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18"/>
                <p:cNvSpPr txBox="1"/>
                <p:nvPr/>
              </p:nvSpPr>
              <p:spPr>
                <a:xfrm>
                  <a:off x="277474" y="624315"/>
                  <a:ext cx="1356973" cy="308610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7.3</a:t>
                  </a:r>
                  <a:r>
                    <a:rPr b="1" lang="es-E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(+)  (+/-)  (-)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8" name="Google Shape;288;p18"/>
            <p:cNvGrpSpPr/>
            <p:nvPr/>
          </p:nvGrpSpPr>
          <p:grpSpPr>
            <a:xfrm>
              <a:off x="0" y="2150417"/>
              <a:ext cx="2095500" cy="5001895"/>
              <a:chOff x="0" y="0"/>
              <a:chExt cx="2095500" cy="5001895"/>
            </a:xfrm>
          </p:grpSpPr>
          <p:sp>
            <p:nvSpPr>
              <p:cNvPr id="289" name="Google Shape;289;p18"/>
              <p:cNvSpPr txBox="1"/>
              <p:nvPr/>
            </p:nvSpPr>
            <p:spPr>
              <a:xfrm>
                <a:off x="0" y="0"/>
                <a:ext cx="2095500" cy="20242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90" name="Google Shape;290;p18"/>
              <p:cNvSpPr txBox="1"/>
              <p:nvPr/>
            </p:nvSpPr>
            <p:spPr>
              <a:xfrm>
                <a:off x="0" y="0"/>
                <a:ext cx="2095500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PROPIETARIOS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8"/>
              <p:cNvSpPr txBox="1"/>
              <p:nvPr/>
            </p:nvSpPr>
            <p:spPr>
              <a:xfrm>
                <a:off x="0" y="2030598"/>
                <a:ext cx="2095500" cy="211888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92" name="Google Shape;292;p18"/>
              <p:cNvSpPr txBox="1"/>
              <p:nvPr/>
            </p:nvSpPr>
            <p:spPr>
              <a:xfrm>
                <a:off x="0" y="2024292"/>
                <a:ext cx="2095500" cy="263118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DIRECTORIO DE GESTIÓN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8"/>
              <p:cNvSpPr txBox="1"/>
              <p:nvPr/>
            </p:nvSpPr>
            <p:spPr>
              <a:xfrm>
                <a:off x="0" y="4389120"/>
                <a:ext cx="2095500" cy="612775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94" name="Google Shape;294;p18"/>
              <p:cNvSpPr txBox="1"/>
              <p:nvPr/>
            </p:nvSpPr>
            <p:spPr>
              <a:xfrm>
                <a:off x="0" y="4143178"/>
                <a:ext cx="2095500" cy="26289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CEO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8"/>
            <p:cNvGrpSpPr/>
            <p:nvPr/>
          </p:nvGrpSpPr>
          <p:grpSpPr>
            <a:xfrm>
              <a:off x="8607972" y="2156723"/>
              <a:ext cx="1622425" cy="3189736"/>
              <a:chOff x="0" y="0"/>
              <a:chExt cx="1622425" cy="3189736"/>
            </a:xfrm>
          </p:grpSpPr>
          <p:sp>
            <p:nvSpPr>
              <p:cNvPr id="296" name="Google Shape;296;p18"/>
              <p:cNvSpPr txBox="1"/>
              <p:nvPr/>
            </p:nvSpPr>
            <p:spPr>
              <a:xfrm>
                <a:off x="0" y="6306"/>
                <a:ext cx="1622425" cy="318343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97" name="Google Shape;297;p18"/>
              <p:cNvSpPr txBox="1"/>
              <p:nvPr/>
            </p:nvSpPr>
            <p:spPr>
              <a:xfrm>
                <a:off x="0" y="0"/>
                <a:ext cx="1622425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TU FOCO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8" name="Google Shape;298;p18"/>
            <p:cNvGrpSpPr/>
            <p:nvPr/>
          </p:nvGrpSpPr>
          <p:grpSpPr>
            <a:xfrm>
              <a:off x="2213479" y="5424149"/>
              <a:ext cx="1078361" cy="1733221"/>
              <a:chOff x="0" y="-18108"/>
              <a:chExt cx="1078361" cy="1733221"/>
            </a:xfrm>
          </p:grpSpPr>
          <p:sp>
            <p:nvSpPr>
              <p:cNvPr id="299" name="Google Shape;299;p18"/>
              <p:cNvSpPr txBox="1"/>
              <p:nvPr/>
            </p:nvSpPr>
            <p:spPr>
              <a:xfrm>
                <a:off x="0" y="-18108"/>
                <a:ext cx="1078361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7.5.1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PUESTO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8"/>
              <p:cNvSpPr txBox="1"/>
              <p:nvPr/>
            </p:nvSpPr>
            <p:spPr>
              <a:xfrm>
                <a:off x="0" y="303508"/>
                <a:ext cx="1078230" cy="1411605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7.5.2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RENDICIÓN DE CUENTAS 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1" name="Google Shape;301;p18"/>
          <p:cNvSpPr txBox="1"/>
          <p:nvPr/>
        </p:nvSpPr>
        <p:spPr>
          <a:xfrm rot="-230608">
            <a:off x="542663" y="1458525"/>
            <a:ext cx="1633574" cy="42846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Agus I/</a:t>
            </a:r>
            <a:r>
              <a:rPr lang="es-ES">
                <a:solidFill>
                  <a:schemeClr val="dk1"/>
                </a:solidFill>
              </a:rPr>
              <a:t>Colo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 rot="213543">
            <a:off x="572264" y="4638309"/>
            <a:ext cx="1633538" cy="28257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Agus 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3213189" y="663459"/>
            <a:ext cx="1979612" cy="28257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CFO  Colo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3163975" y="1130168"/>
            <a:ext cx="1973400" cy="53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Jefa de adm Marcia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9364825" y="785303"/>
            <a:ext cx="1816200" cy="66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Resp.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comercial Twity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6276300" y="808335"/>
            <a:ext cx="2005013" cy="28257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COO Colo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6206975" y="1204301"/>
            <a:ext cx="2400900" cy="37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Jefe tecnico Gaby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18"/>
          <p:cNvGrpSpPr/>
          <p:nvPr/>
        </p:nvGrpSpPr>
        <p:grpSpPr>
          <a:xfrm>
            <a:off x="4769942" y="2570119"/>
            <a:ext cx="3727724" cy="1177951"/>
            <a:chOff x="1" y="0"/>
            <a:chExt cx="3216573" cy="1160834"/>
          </a:xfrm>
        </p:grpSpPr>
        <p:sp>
          <p:nvSpPr>
            <p:cNvPr id="309" name="Google Shape;309;p18"/>
            <p:cNvSpPr txBox="1"/>
            <p:nvPr/>
          </p:nvSpPr>
          <p:spPr>
            <a:xfrm rot="-5400000">
              <a:off x="2314235" y="258279"/>
              <a:ext cx="1160618" cy="64406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Profesionalismo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8"/>
            <p:cNvSpPr txBox="1"/>
            <p:nvPr/>
          </p:nvSpPr>
          <p:spPr>
            <a:xfrm rot="-5400000">
              <a:off x="1671001" y="258280"/>
              <a:ext cx="1160618" cy="64406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Creatividad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8"/>
            <p:cNvSpPr txBox="1"/>
            <p:nvPr/>
          </p:nvSpPr>
          <p:spPr>
            <a:xfrm rot="-5400000">
              <a:off x="1027768" y="258280"/>
              <a:ext cx="1160618" cy="64406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Entusiasmo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8"/>
            <p:cNvSpPr txBox="1"/>
            <p:nvPr/>
          </p:nvSpPr>
          <p:spPr>
            <a:xfrm rot="-5400000">
              <a:off x="384852" y="258597"/>
              <a:ext cx="1160618" cy="64385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Responsabilidad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8"/>
            <p:cNvSpPr txBox="1"/>
            <p:nvPr/>
          </p:nvSpPr>
          <p:spPr>
            <a:xfrm rot="-5400000">
              <a:off x="-258381" y="258597"/>
              <a:ext cx="1160618" cy="64385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Eficiencia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18"/>
          <p:cNvGrpSpPr/>
          <p:nvPr/>
        </p:nvGrpSpPr>
        <p:grpSpPr>
          <a:xfrm>
            <a:off x="2764861" y="3756856"/>
            <a:ext cx="7341489" cy="321966"/>
            <a:chOff x="0" y="0"/>
            <a:chExt cx="6330702" cy="283210"/>
          </a:xfrm>
        </p:grpSpPr>
        <p:sp>
          <p:nvSpPr>
            <p:cNvPr id="315" name="Google Shape;315;p18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AutoNum type="arabicPeriod"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Colo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37 a (3 años)</a:t>
              </a:r>
              <a:endParaRPr/>
            </a:p>
          </p:txBody>
        </p:sp>
        <p:sp>
          <p:nvSpPr>
            <p:cNvPr id="316" name="Google Shape;316;p18"/>
            <p:cNvSpPr txBox="1"/>
            <p:nvPr/>
          </p:nvSpPr>
          <p:spPr>
            <a:xfrm>
              <a:off x="1734207" y="0"/>
              <a:ext cx="64257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8"/>
            <p:cNvSpPr txBox="1"/>
            <p:nvPr/>
          </p:nvSpPr>
          <p:spPr>
            <a:xfrm>
              <a:off x="2377441" y="0"/>
              <a:ext cx="638950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++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8"/>
            <p:cNvSpPr txBox="1"/>
            <p:nvPr/>
          </p:nvSpPr>
          <p:spPr>
            <a:xfrm>
              <a:off x="3022694" y="0"/>
              <a:ext cx="639923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8"/>
            <p:cNvSpPr txBox="1"/>
            <p:nvPr/>
          </p:nvSpPr>
          <p:spPr>
            <a:xfrm>
              <a:off x="3663907" y="0"/>
              <a:ext cx="641219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8"/>
            <p:cNvSpPr txBox="1"/>
            <p:nvPr/>
          </p:nvSpPr>
          <p:spPr>
            <a:xfrm>
              <a:off x="4305126" y="0"/>
              <a:ext cx="648890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8"/>
            <p:cNvSpPr txBox="1"/>
            <p:nvPr/>
          </p:nvSpPr>
          <p:spPr>
            <a:xfrm>
              <a:off x="4988210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 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8"/>
            <p:cNvSpPr txBox="1"/>
            <p:nvPr/>
          </p:nvSpPr>
          <p:spPr>
            <a:xfrm>
              <a:off x="543595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8"/>
            <p:cNvSpPr txBox="1"/>
            <p:nvPr/>
          </p:nvSpPr>
          <p:spPr>
            <a:xfrm>
              <a:off x="588369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++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8"/>
          <p:cNvGrpSpPr/>
          <p:nvPr/>
        </p:nvGrpSpPr>
        <p:grpSpPr>
          <a:xfrm>
            <a:off x="2764862" y="4006059"/>
            <a:ext cx="7341489" cy="275754"/>
            <a:chOff x="0" y="-44"/>
            <a:chExt cx="6330702" cy="283254"/>
          </a:xfrm>
        </p:grpSpPr>
        <p:sp>
          <p:nvSpPr>
            <p:cNvPr id="325" name="Google Shape;325;p18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Luis (Twity) 33 a (11 m)</a:t>
              </a:r>
              <a:endParaRPr/>
            </a:p>
          </p:txBody>
        </p:sp>
        <p:sp>
          <p:nvSpPr>
            <p:cNvPr id="326" name="Google Shape;326;p18"/>
            <p:cNvSpPr txBox="1"/>
            <p:nvPr/>
          </p:nvSpPr>
          <p:spPr>
            <a:xfrm>
              <a:off x="1734207" y="0"/>
              <a:ext cx="641943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	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8"/>
            <p:cNvSpPr txBox="1"/>
            <p:nvPr/>
          </p:nvSpPr>
          <p:spPr>
            <a:xfrm>
              <a:off x="2377440" y="0"/>
              <a:ext cx="6505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8"/>
            <p:cNvSpPr txBox="1"/>
            <p:nvPr/>
          </p:nvSpPr>
          <p:spPr>
            <a:xfrm>
              <a:off x="3027979" y="0"/>
              <a:ext cx="634637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8"/>
            <p:cNvSpPr txBox="1"/>
            <p:nvPr/>
          </p:nvSpPr>
          <p:spPr>
            <a:xfrm>
              <a:off x="3663906" y="0"/>
              <a:ext cx="651251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8"/>
            <p:cNvSpPr txBox="1"/>
            <p:nvPr/>
          </p:nvSpPr>
          <p:spPr>
            <a:xfrm>
              <a:off x="4310141" y="-44"/>
              <a:ext cx="644646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8"/>
            <p:cNvSpPr txBox="1"/>
            <p:nvPr/>
          </p:nvSpPr>
          <p:spPr>
            <a:xfrm>
              <a:off x="4988210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8"/>
            <p:cNvSpPr txBox="1"/>
            <p:nvPr/>
          </p:nvSpPr>
          <p:spPr>
            <a:xfrm>
              <a:off x="543595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8"/>
            <p:cNvSpPr txBox="1"/>
            <p:nvPr/>
          </p:nvSpPr>
          <p:spPr>
            <a:xfrm>
              <a:off x="588369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18"/>
          <p:cNvGrpSpPr/>
          <p:nvPr/>
        </p:nvGrpSpPr>
        <p:grpSpPr>
          <a:xfrm>
            <a:off x="2764863" y="4277561"/>
            <a:ext cx="7341488" cy="265223"/>
            <a:chOff x="0" y="0"/>
            <a:chExt cx="6324392" cy="283210"/>
          </a:xfrm>
        </p:grpSpPr>
        <p:sp>
          <p:nvSpPr>
            <p:cNvPr id="335" name="Google Shape;335;p18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Gaby 37 a (3 años)</a:t>
              </a:r>
              <a:endParaRPr/>
            </a:p>
          </p:txBody>
        </p:sp>
        <p:sp>
          <p:nvSpPr>
            <p:cNvPr id="336" name="Google Shape;336;p18"/>
            <p:cNvSpPr txBox="1"/>
            <p:nvPr/>
          </p:nvSpPr>
          <p:spPr>
            <a:xfrm>
              <a:off x="1734207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+/-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8"/>
            <p:cNvSpPr txBox="1"/>
            <p:nvPr/>
          </p:nvSpPr>
          <p:spPr>
            <a:xfrm>
              <a:off x="2374336" y="0"/>
              <a:ext cx="645043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+/-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8"/>
            <p:cNvSpPr txBox="1"/>
            <p:nvPr/>
          </p:nvSpPr>
          <p:spPr>
            <a:xfrm>
              <a:off x="3020674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8"/>
            <p:cNvSpPr txBox="1"/>
            <p:nvPr/>
          </p:nvSpPr>
          <p:spPr>
            <a:xfrm>
              <a:off x="3658961" y="0"/>
              <a:ext cx="646885" cy="277552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8"/>
            <p:cNvSpPr txBox="1"/>
            <p:nvPr/>
          </p:nvSpPr>
          <p:spPr>
            <a:xfrm>
              <a:off x="4300834" y="0"/>
              <a:ext cx="64901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8"/>
            <p:cNvSpPr txBox="1"/>
            <p:nvPr/>
          </p:nvSpPr>
          <p:spPr>
            <a:xfrm>
              <a:off x="4981904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8"/>
            <p:cNvSpPr txBox="1"/>
            <p:nvPr/>
          </p:nvSpPr>
          <p:spPr>
            <a:xfrm>
              <a:off x="542964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8"/>
            <p:cNvSpPr txBox="1"/>
            <p:nvPr/>
          </p:nvSpPr>
          <p:spPr>
            <a:xfrm>
              <a:off x="587738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18"/>
          <p:cNvGrpSpPr/>
          <p:nvPr/>
        </p:nvGrpSpPr>
        <p:grpSpPr>
          <a:xfrm>
            <a:off x="2764863" y="4534527"/>
            <a:ext cx="7341488" cy="263952"/>
            <a:chOff x="0" y="0"/>
            <a:chExt cx="6324392" cy="283210"/>
          </a:xfrm>
        </p:grpSpPr>
        <p:sp>
          <p:nvSpPr>
            <p:cNvPr id="345" name="Google Shape;345;p18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Aldi  32 a (5 años)</a:t>
              </a:r>
              <a:endParaRPr/>
            </a:p>
          </p:txBody>
        </p:sp>
        <p:sp>
          <p:nvSpPr>
            <p:cNvPr id="346" name="Google Shape;346;p18"/>
            <p:cNvSpPr txBox="1"/>
            <p:nvPr/>
          </p:nvSpPr>
          <p:spPr>
            <a:xfrm>
              <a:off x="1734207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8"/>
            <p:cNvSpPr txBox="1"/>
            <p:nvPr/>
          </p:nvSpPr>
          <p:spPr>
            <a:xfrm>
              <a:off x="2373602" y="0"/>
              <a:ext cx="645776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8"/>
            <p:cNvSpPr txBox="1"/>
            <p:nvPr/>
          </p:nvSpPr>
          <p:spPr>
            <a:xfrm>
              <a:off x="3020674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8"/>
            <p:cNvSpPr txBox="1"/>
            <p:nvPr/>
          </p:nvSpPr>
          <p:spPr>
            <a:xfrm>
              <a:off x="3663907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8"/>
            <p:cNvSpPr txBox="1"/>
            <p:nvPr/>
          </p:nvSpPr>
          <p:spPr>
            <a:xfrm>
              <a:off x="4300834" y="0"/>
              <a:ext cx="64901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8"/>
            <p:cNvSpPr txBox="1"/>
            <p:nvPr/>
          </p:nvSpPr>
          <p:spPr>
            <a:xfrm>
              <a:off x="4981904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8"/>
            <p:cNvSpPr txBox="1"/>
            <p:nvPr/>
          </p:nvSpPr>
          <p:spPr>
            <a:xfrm>
              <a:off x="542964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8"/>
            <p:cNvSpPr txBox="1"/>
            <p:nvPr/>
          </p:nvSpPr>
          <p:spPr>
            <a:xfrm>
              <a:off x="587738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8"/>
          <p:cNvGrpSpPr/>
          <p:nvPr/>
        </p:nvGrpSpPr>
        <p:grpSpPr>
          <a:xfrm>
            <a:off x="2764863" y="4798479"/>
            <a:ext cx="7341488" cy="223101"/>
            <a:chOff x="0" y="0"/>
            <a:chExt cx="6324392" cy="283210"/>
          </a:xfrm>
        </p:grpSpPr>
        <p:sp>
          <p:nvSpPr>
            <p:cNvPr id="355" name="Google Shape;355;p18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Marcia 37 a (10 años)</a:t>
              </a:r>
              <a:endParaRPr/>
            </a:p>
          </p:txBody>
        </p:sp>
        <p:sp>
          <p:nvSpPr>
            <p:cNvPr id="356" name="Google Shape;356;p18"/>
            <p:cNvSpPr txBox="1"/>
            <p:nvPr/>
          </p:nvSpPr>
          <p:spPr>
            <a:xfrm>
              <a:off x="1734207" y="0"/>
              <a:ext cx="64239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8"/>
            <p:cNvSpPr txBox="1"/>
            <p:nvPr/>
          </p:nvSpPr>
          <p:spPr>
            <a:xfrm>
              <a:off x="2375070" y="0"/>
              <a:ext cx="644309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8"/>
            <p:cNvSpPr txBox="1"/>
            <p:nvPr/>
          </p:nvSpPr>
          <p:spPr>
            <a:xfrm>
              <a:off x="3020674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8"/>
            <p:cNvSpPr txBox="1"/>
            <p:nvPr/>
          </p:nvSpPr>
          <p:spPr>
            <a:xfrm>
              <a:off x="3663908" y="0"/>
              <a:ext cx="631667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8"/>
            <p:cNvSpPr txBox="1"/>
            <p:nvPr/>
          </p:nvSpPr>
          <p:spPr>
            <a:xfrm>
              <a:off x="4301294" y="0"/>
              <a:ext cx="647784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8"/>
            <p:cNvSpPr txBox="1"/>
            <p:nvPr/>
          </p:nvSpPr>
          <p:spPr>
            <a:xfrm>
              <a:off x="4981904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8"/>
            <p:cNvSpPr txBox="1"/>
            <p:nvPr/>
          </p:nvSpPr>
          <p:spPr>
            <a:xfrm>
              <a:off x="542964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++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 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8"/>
            <p:cNvSpPr txBox="1"/>
            <p:nvPr/>
          </p:nvSpPr>
          <p:spPr>
            <a:xfrm>
              <a:off x="587738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18"/>
          <p:cNvGrpSpPr/>
          <p:nvPr/>
        </p:nvGrpSpPr>
        <p:grpSpPr>
          <a:xfrm>
            <a:off x="4051121" y="5097221"/>
            <a:ext cx="1437640" cy="1606556"/>
            <a:chOff x="0" y="0"/>
            <a:chExt cx="1633220" cy="1733637"/>
          </a:xfrm>
        </p:grpSpPr>
        <p:sp>
          <p:nvSpPr>
            <p:cNvPr id="365" name="Google Shape;365;p18"/>
            <p:cNvSpPr txBox="1"/>
            <p:nvPr/>
          </p:nvSpPr>
          <p:spPr>
            <a:xfrm>
              <a:off x="0" y="32161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finanzas/bancos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8"/>
            <p:cNvSpPr txBox="1"/>
            <p:nvPr/>
          </p:nvSpPr>
          <p:spPr>
            <a:xfrm>
              <a:off x="0" y="0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CFO / COO</a:t>
              </a:r>
              <a:endParaRPr/>
            </a:p>
          </p:txBody>
        </p:sp>
        <p:sp>
          <p:nvSpPr>
            <p:cNvPr id="367" name="Google Shape;367;p18"/>
            <p:cNvSpPr txBox="1"/>
            <p:nvPr/>
          </p:nvSpPr>
          <p:spPr>
            <a:xfrm>
              <a:off x="0" y="60539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curso de obras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8"/>
            <p:cNvSpPr txBox="1"/>
            <p:nvPr/>
          </p:nvSpPr>
          <p:spPr>
            <a:xfrm>
              <a:off x="0" y="889175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compras 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8"/>
            <p:cNvSpPr txBox="1"/>
            <p:nvPr/>
          </p:nvSpPr>
          <p:spPr>
            <a:xfrm>
              <a:off x="0" y="1172954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RRHH (Gestion min)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8"/>
            <p:cNvSpPr txBox="1"/>
            <p:nvPr/>
          </p:nvSpPr>
          <p:spPr>
            <a:xfrm>
              <a:off x="0" y="1450427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ingenieria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18"/>
          <p:cNvSpPr txBox="1"/>
          <p:nvPr/>
        </p:nvSpPr>
        <p:spPr>
          <a:xfrm>
            <a:off x="5523676" y="5401696"/>
            <a:ext cx="1437640" cy="2611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comercial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5523676" y="5105121"/>
            <a:ext cx="1437640" cy="2611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Resp. comercial 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5523676" y="5663381"/>
            <a:ext cx="1437640" cy="2611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leads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5523676" y="5925065"/>
            <a:ext cx="1437640" cy="2611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presupuestación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5523676" y="6186749"/>
            <a:ext cx="1437640" cy="2611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5523676" y="6442618"/>
            <a:ext cx="1437640" cy="26115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y dimension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18"/>
          <p:cNvGrpSpPr/>
          <p:nvPr/>
        </p:nvGrpSpPr>
        <p:grpSpPr>
          <a:xfrm>
            <a:off x="6996231" y="5102308"/>
            <a:ext cx="1437640" cy="1601469"/>
            <a:chOff x="0" y="0"/>
            <a:chExt cx="1633220" cy="1733637"/>
          </a:xfrm>
        </p:grpSpPr>
        <p:sp>
          <p:nvSpPr>
            <p:cNvPr id="378" name="Google Shape;378;p18"/>
            <p:cNvSpPr txBox="1"/>
            <p:nvPr/>
          </p:nvSpPr>
          <p:spPr>
            <a:xfrm>
              <a:off x="0" y="32161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 obras 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8"/>
            <p:cNvSpPr txBox="1"/>
            <p:nvPr/>
          </p:nvSpPr>
          <p:spPr>
            <a:xfrm>
              <a:off x="0" y="0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 Jefe tecnico</a:t>
              </a:r>
              <a:endParaRPr/>
            </a:p>
          </p:txBody>
        </p:sp>
        <p:sp>
          <p:nvSpPr>
            <p:cNvPr id="380" name="Google Shape;380;p18"/>
            <p:cNvSpPr txBox="1"/>
            <p:nvPr/>
          </p:nvSpPr>
          <p:spPr>
            <a:xfrm>
              <a:off x="0" y="60539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contacto con cliente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8"/>
            <p:cNvSpPr txBox="1"/>
            <p:nvPr/>
          </p:nvSpPr>
          <p:spPr>
            <a:xfrm>
              <a:off x="0" y="889175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relevamientos tecn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8"/>
            <p:cNvSpPr txBox="1"/>
            <p:nvPr/>
          </p:nvSpPr>
          <p:spPr>
            <a:xfrm>
              <a:off x="0" y="1172954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tratam de NC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8"/>
            <p:cNvSpPr txBox="1"/>
            <p:nvPr/>
          </p:nvSpPr>
          <p:spPr>
            <a:xfrm>
              <a:off x="0" y="1450427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18"/>
          <p:cNvGrpSpPr/>
          <p:nvPr/>
        </p:nvGrpSpPr>
        <p:grpSpPr>
          <a:xfrm>
            <a:off x="8469391" y="5102307"/>
            <a:ext cx="1329055" cy="1601469"/>
            <a:chOff x="0" y="7780"/>
            <a:chExt cx="1633220" cy="1725857"/>
          </a:xfrm>
        </p:grpSpPr>
        <p:sp>
          <p:nvSpPr>
            <p:cNvPr id="385" name="Google Shape;385;p18"/>
            <p:cNvSpPr txBox="1"/>
            <p:nvPr/>
          </p:nvSpPr>
          <p:spPr>
            <a:xfrm>
              <a:off x="0" y="32161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Atención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al publ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8"/>
            <p:cNvSpPr txBox="1"/>
            <p:nvPr/>
          </p:nvSpPr>
          <p:spPr>
            <a:xfrm>
              <a:off x="0" y="7780"/>
              <a:ext cx="1633220" cy="275429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Jefe de Growth</a:t>
              </a:r>
              <a:endParaRPr/>
            </a:p>
          </p:txBody>
        </p:sp>
        <p:sp>
          <p:nvSpPr>
            <p:cNvPr id="387" name="Google Shape;387;p18"/>
            <p:cNvSpPr txBox="1"/>
            <p:nvPr/>
          </p:nvSpPr>
          <p:spPr>
            <a:xfrm>
              <a:off x="0" y="60539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PV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8"/>
            <p:cNvSpPr txBox="1"/>
            <p:nvPr/>
          </p:nvSpPr>
          <p:spPr>
            <a:xfrm>
              <a:off x="0" y="889175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Gestion MKT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8"/>
            <p:cNvSpPr txBox="1"/>
            <p:nvPr/>
          </p:nvSpPr>
          <p:spPr>
            <a:xfrm>
              <a:off x="0" y="1172954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auxiliar comer.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8"/>
            <p:cNvSpPr txBox="1"/>
            <p:nvPr/>
          </p:nvSpPr>
          <p:spPr>
            <a:xfrm>
              <a:off x="0" y="1450427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18"/>
          <p:cNvGrpSpPr/>
          <p:nvPr/>
        </p:nvGrpSpPr>
        <p:grpSpPr>
          <a:xfrm>
            <a:off x="9833966" y="5104436"/>
            <a:ext cx="1424940" cy="1599341"/>
            <a:chOff x="0" y="13788"/>
            <a:chExt cx="1633220" cy="1719849"/>
          </a:xfrm>
        </p:grpSpPr>
        <p:sp>
          <p:nvSpPr>
            <p:cNvPr id="392" name="Google Shape;392;p18"/>
            <p:cNvSpPr txBox="1"/>
            <p:nvPr/>
          </p:nvSpPr>
          <p:spPr>
            <a:xfrm>
              <a:off x="0" y="32161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 bancos 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8"/>
            <p:cNvSpPr txBox="1"/>
            <p:nvPr/>
          </p:nvSpPr>
          <p:spPr>
            <a:xfrm>
              <a:off x="0" y="13788"/>
              <a:ext cx="1633220" cy="26942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Jefa de adm.</a:t>
              </a:r>
              <a:endParaRPr/>
            </a:p>
          </p:txBody>
        </p:sp>
        <p:sp>
          <p:nvSpPr>
            <p:cNvPr id="394" name="Google Shape;394;p18"/>
            <p:cNvSpPr txBox="1"/>
            <p:nvPr/>
          </p:nvSpPr>
          <p:spPr>
            <a:xfrm>
              <a:off x="0" y="60539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conciliaciones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8"/>
            <p:cNvSpPr txBox="1"/>
            <p:nvPr/>
          </p:nvSpPr>
          <p:spPr>
            <a:xfrm>
              <a:off x="0" y="889175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pagos y cobros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8"/>
            <p:cNvSpPr txBox="1"/>
            <p:nvPr/>
          </p:nvSpPr>
          <p:spPr>
            <a:xfrm>
              <a:off x="0" y="1172954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gestiones adm/RRH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8"/>
            <p:cNvSpPr txBox="1"/>
            <p:nvPr/>
          </p:nvSpPr>
          <p:spPr>
            <a:xfrm>
              <a:off x="0" y="1450427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gestion del depo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18"/>
          <p:cNvSpPr txBox="1"/>
          <p:nvPr/>
        </p:nvSpPr>
        <p:spPr>
          <a:xfrm rot="183317">
            <a:off x="10263177" y="2416295"/>
            <a:ext cx="1615396" cy="61076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Estrategia de crecimiento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10336025" y="3139762"/>
            <a:ext cx="1469700" cy="53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700">
                <a:solidFill>
                  <a:schemeClr val="dk1"/>
                </a:solidFill>
              </a:rPr>
              <a:t>Vínculos</a:t>
            </a:r>
            <a:r>
              <a:rPr lang="es-ES" sz="1700">
                <a:solidFill>
                  <a:schemeClr val="dk1"/>
                </a:solidFill>
              </a:rPr>
              <a:t> comerciales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 txBox="1"/>
          <p:nvPr/>
        </p:nvSpPr>
        <p:spPr>
          <a:xfrm rot="-226979">
            <a:off x="10265032" y="3802005"/>
            <a:ext cx="1691486" cy="57003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600">
                <a:solidFill>
                  <a:schemeClr val="dk1"/>
                </a:solidFill>
              </a:rPr>
              <a:t>Implementación</a:t>
            </a:r>
            <a:r>
              <a:rPr lang="es-ES" sz="1600">
                <a:solidFill>
                  <a:schemeClr val="dk1"/>
                </a:solidFill>
              </a:rPr>
              <a:t> de sistemas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 rot="-308333">
            <a:off x="638614" y="2633317"/>
            <a:ext cx="1148818" cy="31748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Agus 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0" y="-82163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0" y="-364434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 rot="178947">
            <a:off x="522571" y="565201"/>
            <a:ext cx="1633538" cy="28257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Agus 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8"/>
          <p:cNvSpPr txBox="1"/>
          <p:nvPr/>
        </p:nvSpPr>
        <p:spPr>
          <a:xfrm rot="-308612">
            <a:off x="565241" y="3254668"/>
            <a:ext cx="1345217" cy="25061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Valen 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 txBox="1"/>
          <p:nvPr/>
        </p:nvSpPr>
        <p:spPr>
          <a:xfrm rot="-284455">
            <a:off x="610706" y="6263824"/>
            <a:ext cx="1633388" cy="34378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Agus 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8"/>
          <p:cNvSpPr txBox="1"/>
          <p:nvPr/>
        </p:nvSpPr>
        <p:spPr>
          <a:xfrm>
            <a:off x="8281326" y="1640175"/>
            <a:ext cx="2266800" cy="32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Jefa de Growth Aldi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"/>
          <p:cNvSpPr txBox="1"/>
          <p:nvPr/>
        </p:nvSpPr>
        <p:spPr>
          <a:xfrm>
            <a:off x="7272770" y="4105543"/>
            <a:ext cx="2326990" cy="268880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3" name="Google Shape;413;p19"/>
          <p:cNvSpPr txBox="1"/>
          <p:nvPr/>
        </p:nvSpPr>
        <p:spPr>
          <a:xfrm>
            <a:off x="7266823" y="3849277"/>
            <a:ext cx="2324839" cy="257898"/>
          </a:xfrm>
          <a:prstGeom prst="rect">
            <a:avLst/>
          </a:prstGeom>
          <a:solidFill>
            <a:srgbClr val="D5DBE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 PILARES DE LA FELICIDAD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" name="Google Shape;414;p19"/>
          <p:cNvGrpSpPr/>
          <p:nvPr/>
        </p:nvGrpSpPr>
        <p:grpSpPr>
          <a:xfrm>
            <a:off x="247649" y="257175"/>
            <a:ext cx="11745567" cy="6532326"/>
            <a:chOff x="247649" y="257175"/>
            <a:chExt cx="11745567" cy="6532326"/>
          </a:xfrm>
        </p:grpSpPr>
        <p:sp>
          <p:nvSpPr>
            <p:cNvPr id="415" name="Google Shape;415;p19"/>
            <p:cNvSpPr txBox="1"/>
            <p:nvPr/>
          </p:nvSpPr>
          <p:spPr>
            <a:xfrm>
              <a:off x="9527867" y="4100698"/>
              <a:ext cx="2444775" cy="123995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6" name="Google Shape;416;p19"/>
            <p:cNvSpPr txBox="1"/>
            <p:nvPr/>
          </p:nvSpPr>
          <p:spPr>
            <a:xfrm>
              <a:off x="4997606" y="257175"/>
              <a:ext cx="2411002" cy="35870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7" name="Google Shape;417;p19"/>
            <p:cNvSpPr txBox="1"/>
            <p:nvPr/>
          </p:nvSpPr>
          <p:spPr>
            <a:xfrm>
              <a:off x="4997606" y="257175"/>
              <a:ext cx="2411002" cy="260244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PROCESOS CLAVE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9"/>
            <p:cNvSpPr txBox="1"/>
            <p:nvPr/>
          </p:nvSpPr>
          <p:spPr>
            <a:xfrm>
              <a:off x="247649" y="257175"/>
              <a:ext cx="4744560" cy="358700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9" name="Google Shape;419;p19"/>
            <p:cNvSpPr txBox="1"/>
            <p:nvPr/>
          </p:nvSpPr>
          <p:spPr>
            <a:xfrm>
              <a:off x="247649" y="257175"/>
              <a:ext cx="4744560" cy="260244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DATOS GENERALES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9"/>
            <p:cNvSpPr txBox="1"/>
            <p:nvPr/>
          </p:nvSpPr>
          <p:spPr>
            <a:xfrm>
              <a:off x="7393417" y="257175"/>
              <a:ext cx="4599799" cy="35870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1" name="Google Shape;421;p19"/>
            <p:cNvSpPr txBox="1"/>
            <p:nvPr/>
          </p:nvSpPr>
          <p:spPr>
            <a:xfrm>
              <a:off x="7393417" y="257175"/>
              <a:ext cx="4599799" cy="260244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PULSO DEL NEGOCIO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9"/>
            <p:cNvSpPr txBox="1"/>
            <p:nvPr/>
          </p:nvSpPr>
          <p:spPr>
            <a:xfrm>
              <a:off x="9527866" y="5598175"/>
              <a:ext cx="2444776" cy="119093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3" name="Google Shape;423;p19"/>
            <p:cNvSpPr txBox="1"/>
            <p:nvPr/>
          </p:nvSpPr>
          <p:spPr>
            <a:xfrm>
              <a:off x="9527867" y="3842800"/>
              <a:ext cx="2460117" cy="267778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PRINCIP. DESAFÍOS PROFESIONALES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9"/>
            <p:cNvSpPr txBox="1"/>
            <p:nvPr/>
          </p:nvSpPr>
          <p:spPr>
            <a:xfrm>
              <a:off x="9527867" y="5340277"/>
              <a:ext cx="2444776" cy="267778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OBJETIVOS PERSONALES DEL AÑO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9"/>
            <p:cNvSpPr txBox="1"/>
            <p:nvPr/>
          </p:nvSpPr>
          <p:spPr>
            <a:xfrm>
              <a:off x="247649" y="4100698"/>
              <a:ext cx="2348270" cy="268880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6" name="Google Shape;426;p19"/>
            <p:cNvSpPr txBox="1"/>
            <p:nvPr/>
          </p:nvSpPr>
          <p:spPr>
            <a:xfrm>
              <a:off x="247649" y="3842800"/>
              <a:ext cx="2348270" cy="257898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IDEAS/PROYECTOS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9"/>
            <p:cNvSpPr txBox="1"/>
            <p:nvPr/>
          </p:nvSpPr>
          <p:spPr>
            <a:xfrm>
              <a:off x="2595919" y="4100698"/>
              <a:ext cx="2346119" cy="268880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8" name="Google Shape;428;p19"/>
            <p:cNvSpPr txBox="1"/>
            <p:nvPr/>
          </p:nvSpPr>
          <p:spPr>
            <a:xfrm>
              <a:off x="2590688" y="3842721"/>
              <a:ext cx="2346119" cy="257898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TUS HABILIDADES ÚNICAS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9"/>
            <p:cNvSpPr txBox="1"/>
            <p:nvPr/>
          </p:nvSpPr>
          <p:spPr>
            <a:xfrm>
              <a:off x="4944905" y="4097434"/>
              <a:ext cx="2326990" cy="268880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0" name="Google Shape;430;p19"/>
            <p:cNvSpPr txBox="1"/>
            <p:nvPr/>
          </p:nvSpPr>
          <p:spPr>
            <a:xfrm>
              <a:off x="4938958" y="3841168"/>
              <a:ext cx="2324839" cy="257898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TUS SABOTEADORES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19"/>
          <p:cNvSpPr txBox="1"/>
          <p:nvPr/>
        </p:nvSpPr>
        <p:spPr>
          <a:xfrm rot="178382">
            <a:off x="5255908" y="646867"/>
            <a:ext cx="1931900" cy="53261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Proceso comercial desde lead a cierre 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"/>
          <p:cNvSpPr txBox="1"/>
          <p:nvPr/>
        </p:nvSpPr>
        <p:spPr>
          <a:xfrm rot="220567">
            <a:off x="5197488" y="2243618"/>
            <a:ext cx="1955824" cy="88711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Proceso administrativo diario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 txBox="1"/>
          <p:nvPr/>
        </p:nvSpPr>
        <p:spPr>
          <a:xfrm>
            <a:off x="5171175" y="1278975"/>
            <a:ext cx="2101800" cy="74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500">
                <a:solidFill>
                  <a:schemeClr val="dk1"/>
                </a:solidFill>
              </a:rPr>
              <a:t>Proceso desde venta de equipo hasta puesta en marcha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 rot="-348942">
            <a:off x="2692526" y="643094"/>
            <a:ext cx="2001401" cy="53585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 haciendo un curso de GROWTH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 txBox="1"/>
          <p:nvPr/>
        </p:nvSpPr>
        <p:spPr>
          <a:xfrm rot="212777">
            <a:off x="2849045" y="1218415"/>
            <a:ext cx="1498670" cy="47972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1500 Clientes aprox en Cartera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 txBox="1"/>
          <p:nvPr/>
        </p:nvSpPr>
        <p:spPr>
          <a:xfrm rot="-164740">
            <a:off x="500816" y="1279059"/>
            <a:ext cx="2323467" cy="63131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ERP “a medida” inhouse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(trello - Drive -Slack - Nocrm)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 txBox="1"/>
          <p:nvPr/>
        </p:nvSpPr>
        <p:spPr>
          <a:xfrm rot="-233109">
            <a:off x="550960" y="692601"/>
            <a:ext cx="1753329" cy="50124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Somos 13 en total (5 en la “calle”)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8" name="Google Shape;438;p19"/>
          <p:cNvSpPr txBox="1"/>
          <p:nvPr/>
        </p:nvSpPr>
        <p:spPr>
          <a:xfrm rot="184903">
            <a:off x="2918518" y="1816696"/>
            <a:ext cx="1992181" cy="44945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años en el mercado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 rot="151621">
            <a:off x="414316" y="2059488"/>
            <a:ext cx="2231770" cy="59427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300">
                <a:solidFill>
                  <a:schemeClr val="dk1"/>
                </a:solidFill>
              </a:rPr>
              <a:t>Logramos aprobar el primer proyecto BN - Edesa Exigiendo BN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 txBox="1"/>
          <p:nvPr/>
        </p:nvSpPr>
        <p:spPr>
          <a:xfrm rot="-153203">
            <a:off x="362834" y="4188158"/>
            <a:ext cx="2047132" cy="49909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transversal de IA en toda la empresa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 txBox="1"/>
          <p:nvPr/>
        </p:nvSpPr>
        <p:spPr>
          <a:xfrm rot="-198304">
            <a:off x="424030" y="5135364"/>
            <a:ext cx="1857690" cy="40326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Retomar alquiler/Leasing de sistemas FV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 txBox="1"/>
          <p:nvPr/>
        </p:nvSpPr>
        <p:spPr>
          <a:xfrm rot="319198">
            <a:off x="409444" y="5598924"/>
            <a:ext cx="1983444" cy="68005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Marketplace con Agente IA para productos Hogar y mov electr.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9647900" y="4675300"/>
            <a:ext cx="1959600" cy="305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terminar curso de Growth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 rot="-188174">
            <a:off x="9688768" y="5712751"/>
            <a:ext cx="2012414" cy="22834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ubicar a Luli en Bs As.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9720675" y="4219400"/>
            <a:ext cx="1959600" cy="39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UN c/ingresos recurrentes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 txBox="1"/>
          <p:nvPr/>
        </p:nvSpPr>
        <p:spPr>
          <a:xfrm rot="-250122">
            <a:off x="2727707" y="4226618"/>
            <a:ext cx="1960286" cy="54476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300">
                <a:solidFill>
                  <a:schemeClr val="dk1"/>
                </a:solidFill>
              </a:rPr>
              <a:t>Comunicar/ explicar / (vender)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 rot="231834">
            <a:off x="2682619" y="4789685"/>
            <a:ext cx="2087946" cy="43268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Formar y Liderar equipos de trabajo multidisciplinarios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0" y="87868"/>
            <a:ext cx="184731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"/>
          <p:cNvSpPr txBox="1"/>
          <p:nvPr/>
        </p:nvSpPr>
        <p:spPr>
          <a:xfrm rot="184723">
            <a:off x="399833" y="2697506"/>
            <a:ext cx="2055567" cy="53386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en porto -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depósito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Siria - una Berlingo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 rot="-164297">
            <a:off x="2635117" y="2850939"/>
            <a:ext cx="2116216" cy="41988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Agente IA que baja y analiza facturas EDESA 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2710350" y="5366575"/>
            <a:ext cx="1552500" cy="39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Pensar e implementar sistemas </a:t>
            </a: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19"/>
          <p:cNvGrpSpPr/>
          <p:nvPr/>
        </p:nvGrpSpPr>
        <p:grpSpPr>
          <a:xfrm>
            <a:off x="7356362" y="5006026"/>
            <a:ext cx="2060858" cy="305046"/>
            <a:chOff x="5036452" y="4454744"/>
            <a:chExt cx="2060858" cy="305046"/>
          </a:xfrm>
        </p:grpSpPr>
        <p:sp>
          <p:nvSpPr>
            <p:cNvPr id="454" name="Google Shape;454;p19"/>
            <p:cNvSpPr txBox="1"/>
            <p:nvPr/>
          </p:nvSpPr>
          <p:spPr>
            <a:xfrm>
              <a:off x="5036452" y="4456920"/>
              <a:ext cx="1668107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AMISTADES</a:t>
              </a:r>
              <a:endParaRPr/>
            </a:p>
          </p:txBody>
        </p:sp>
        <p:sp>
          <p:nvSpPr>
            <p:cNvPr id="455" name="Google Shape;455;p19"/>
            <p:cNvSpPr txBox="1"/>
            <p:nvPr/>
          </p:nvSpPr>
          <p:spPr>
            <a:xfrm>
              <a:off x="6708694" y="4454744"/>
              <a:ext cx="388616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</a:rPr>
                <a:t>8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" name="Google Shape;456;p19"/>
          <p:cNvGrpSpPr/>
          <p:nvPr/>
        </p:nvGrpSpPr>
        <p:grpSpPr>
          <a:xfrm>
            <a:off x="5025630" y="5225982"/>
            <a:ext cx="2060858" cy="441400"/>
            <a:chOff x="5025630" y="5225982"/>
            <a:chExt cx="2060858" cy="441400"/>
          </a:xfrm>
        </p:grpSpPr>
        <p:sp>
          <p:nvSpPr>
            <p:cNvPr id="457" name="Google Shape;457;p19"/>
            <p:cNvSpPr txBox="1"/>
            <p:nvPr/>
          </p:nvSpPr>
          <p:spPr>
            <a:xfrm>
              <a:off x="5025630" y="5228158"/>
              <a:ext cx="1678929" cy="439224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</a:rPr>
                <a:t>hiperacheiver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9"/>
            <p:cNvSpPr txBox="1"/>
            <p:nvPr/>
          </p:nvSpPr>
          <p:spPr>
            <a:xfrm>
              <a:off x="6697872" y="5225982"/>
              <a:ext cx="388616" cy="439224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</a:rPr>
                <a:t>7.5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19"/>
          <p:cNvGrpSpPr/>
          <p:nvPr/>
        </p:nvGrpSpPr>
        <p:grpSpPr>
          <a:xfrm>
            <a:off x="5036452" y="5964197"/>
            <a:ext cx="2060858" cy="441400"/>
            <a:chOff x="5036452" y="5964197"/>
            <a:chExt cx="2060858" cy="441400"/>
          </a:xfrm>
        </p:grpSpPr>
        <p:sp>
          <p:nvSpPr>
            <p:cNvPr id="460" name="Google Shape;460;p19"/>
            <p:cNvSpPr txBox="1"/>
            <p:nvPr/>
          </p:nvSpPr>
          <p:spPr>
            <a:xfrm>
              <a:off x="5036452" y="5966373"/>
              <a:ext cx="1668107" cy="439224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</a:rPr>
                <a:t>pleacer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9"/>
            <p:cNvSpPr txBox="1"/>
            <p:nvPr/>
          </p:nvSpPr>
          <p:spPr>
            <a:xfrm>
              <a:off x="6708694" y="5964197"/>
              <a:ext cx="388616" cy="439224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</a:rPr>
                <a:t>7.5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2" name="Google Shape;462;p19"/>
          <p:cNvGrpSpPr/>
          <p:nvPr/>
        </p:nvGrpSpPr>
        <p:grpSpPr>
          <a:xfrm>
            <a:off x="7617579" y="773940"/>
            <a:ext cx="1763450" cy="393451"/>
            <a:chOff x="7617579" y="773940"/>
            <a:chExt cx="1763450" cy="393451"/>
          </a:xfrm>
        </p:grpSpPr>
        <p:sp>
          <p:nvSpPr>
            <p:cNvPr id="463" name="Google Shape;463;p19"/>
            <p:cNvSpPr txBox="1"/>
            <p:nvPr/>
          </p:nvSpPr>
          <p:spPr>
            <a:xfrm>
              <a:off x="8006195" y="778785"/>
              <a:ext cx="1374834" cy="388606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</a:rPr>
                <a:t>Leads act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9"/>
            <p:cNvSpPr txBox="1"/>
            <p:nvPr/>
          </p:nvSpPr>
          <p:spPr>
            <a:xfrm>
              <a:off x="7617579" y="773940"/>
              <a:ext cx="388616" cy="39345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9"/>
          <p:cNvGrpSpPr/>
          <p:nvPr/>
        </p:nvGrpSpPr>
        <p:grpSpPr>
          <a:xfrm>
            <a:off x="7617575" y="2201972"/>
            <a:ext cx="2058125" cy="305100"/>
            <a:chOff x="7617573" y="770776"/>
            <a:chExt cx="2058125" cy="305100"/>
          </a:xfrm>
        </p:grpSpPr>
        <p:sp>
          <p:nvSpPr>
            <p:cNvPr id="466" name="Google Shape;466;p19"/>
            <p:cNvSpPr txBox="1"/>
            <p:nvPr/>
          </p:nvSpPr>
          <p:spPr>
            <a:xfrm>
              <a:off x="8006198" y="778780"/>
              <a:ext cx="1669500" cy="2580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>
                  <a:solidFill>
                    <a:schemeClr val="dk1"/>
                  </a:solidFill>
                </a:rPr>
                <a:t>M$ Ventas 12 m</a:t>
              </a:r>
              <a:endParaRPr b="0"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9"/>
            <p:cNvSpPr txBox="1"/>
            <p:nvPr/>
          </p:nvSpPr>
          <p:spPr>
            <a:xfrm>
              <a:off x="7617573" y="770776"/>
              <a:ext cx="580500" cy="3051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300">
                  <a:solidFill>
                    <a:schemeClr val="dk1"/>
                  </a:solidFill>
                </a:rPr>
                <a:t>1000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19"/>
          <p:cNvGrpSpPr/>
          <p:nvPr/>
        </p:nvGrpSpPr>
        <p:grpSpPr>
          <a:xfrm>
            <a:off x="7764418" y="1472614"/>
            <a:ext cx="1763450" cy="393451"/>
            <a:chOff x="7617579" y="773940"/>
            <a:chExt cx="1763450" cy="393451"/>
          </a:xfrm>
        </p:grpSpPr>
        <p:sp>
          <p:nvSpPr>
            <p:cNvPr id="469" name="Google Shape;469;p19"/>
            <p:cNvSpPr txBox="1"/>
            <p:nvPr/>
          </p:nvSpPr>
          <p:spPr>
            <a:xfrm>
              <a:off x="8006195" y="778785"/>
              <a:ext cx="1374834" cy="388606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</a:rPr>
                <a:t>Leads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9"/>
            <p:cNvSpPr txBox="1"/>
            <p:nvPr/>
          </p:nvSpPr>
          <p:spPr>
            <a:xfrm>
              <a:off x="7617579" y="773940"/>
              <a:ext cx="388616" cy="39345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19"/>
          <p:cNvGrpSpPr/>
          <p:nvPr/>
        </p:nvGrpSpPr>
        <p:grpSpPr>
          <a:xfrm>
            <a:off x="7798772" y="2934438"/>
            <a:ext cx="1763516" cy="393451"/>
            <a:chOff x="7617579" y="773940"/>
            <a:chExt cx="1763516" cy="393451"/>
          </a:xfrm>
        </p:grpSpPr>
        <p:sp>
          <p:nvSpPr>
            <p:cNvPr id="472" name="Google Shape;472;p19"/>
            <p:cNvSpPr txBox="1"/>
            <p:nvPr/>
          </p:nvSpPr>
          <p:spPr>
            <a:xfrm>
              <a:off x="8006195" y="778785"/>
              <a:ext cx="1374900" cy="3885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>
                  <a:solidFill>
                    <a:schemeClr val="dk1"/>
                  </a:solidFill>
                </a:rPr>
                <a:t>Margen bruto</a:t>
              </a:r>
              <a:endParaRPr b="0"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9"/>
            <p:cNvSpPr txBox="1"/>
            <p:nvPr/>
          </p:nvSpPr>
          <p:spPr>
            <a:xfrm>
              <a:off x="7617579" y="773940"/>
              <a:ext cx="388616" cy="39345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19"/>
          <p:cNvGrpSpPr/>
          <p:nvPr/>
        </p:nvGrpSpPr>
        <p:grpSpPr>
          <a:xfrm>
            <a:off x="10061137" y="2909313"/>
            <a:ext cx="1763450" cy="393451"/>
            <a:chOff x="7617579" y="773940"/>
            <a:chExt cx="1763450" cy="393451"/>
          </a:xfrm>
        </p:grpSpPr>
        <p:sp>
          <p:nvSpPr>
            <p:cNvPr id="475" name="Google Shape;475;p19"/>
            <p:cNvSpPr txBox="1"/>
            <p:nvPr/>
          </p:nvSpPr>
          <p:spPr>
            <a:xfrm>
              <a:off x="8006195" y="778785"/>
              <a:ext cx="1374834" cy="388606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</a:rPr>
                <a:t>Ebidta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9"/>
            <p:cNvSpPr txBox="1"/>
            <p:nvPr/>
          </p:nvSpPr>
          <p:spPr>
            <a:xfrm>
              <a:off x="7617579" y="773940"/>
              <a:ext cx="388616" cy="39345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7" name="Google Shape;477;p19"/>
          <p:cNvGrpSpPr/>
          <p:nvPr/>
        </p:nvGrpSpPr>
        <p:grpSpPr>
          <a:xfrm>
            <a:off x="9820408" y="2181827"/>
            <a:ext cx="1763450" cy="393451"/>
            <a:chOff x="7617579" y="773940"/>
            <a:chExt cx="1763450" cy="393451"/>
          </a:xfrm>
        </p:grpSpPr>
        <p:sp>
          <p:nvSpPr>
            <p:cNvPr id="478" name="Google Shape;478;p19"/>
            <p:cNvSpPr txBox="1"/>
            <p:nvPr/>
          </p:nvSpPr>
          <p:spPr>
            <a:xfrm>
              <a:off x="8006195" y="778785"/>
              <a:ext cx="1374834" cy="388606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1300">
                  <a:solidFill>
                    <a:schemeClr val="dk1"/>
                  </a:solidFill>
                </a:rPr>
                <a:t>M$ Ticket prom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9"/>
            <p:cNvSpPr txBox="1"/>
            <p:nvPr/>
          </p:nvSpPr>
          <p:spPr>
            <a:xfrm>
              <a:off x="7617579" y="773940"/>
              <a:ext cx="388616" cy="39345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>
                  <a:solidFill>
                    <a:schemeClr val="dk1"/>
                  </a:solidFill>
                </a:rPr>
                <a:t>10</a:t>
              </a:r>
              <a:endParaRPr b="0"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0" name="Google Shape;480;p19"/>
          <p:cNvGrpSpPr/>
          <p:nvPr/>
        </p:nvGrpSpPr>
        <p:grpSpPr>
          <a:xfrm>
            <a:off x="9866829" y="779079"/>
            <a:ext cx="1763450" cy="393451"/>
            <a:chOff x="7617579" y="773940"/>
            <a:chExt cx="1763450" cy="393451"/>
          </a:xfrm>
        </p:grpSpPr>
        <p:sp>
          <p:nvSpPr>
            <p:cNvPr id="481" name="Google Shape;481;p19"/>
            <p:cNvSpPr txBox="1"/>
            <p:nvPr/>
          </p:nvSpPr>
          <p:spPr>
            <a:xfrm>
              <a:off x="8006195" y="778785"/>
              <a:ext cx="1374834" cy="388606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1200">
                  <a:solidFill>
                    <a:schemeClr val="dk1"/>
                  </a:solidFill>
                </a:rPr>
                <a:t>% tasa de cierre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9"/>
            <p:cNvSpPr txBox="1"/>
            <p:nvPr/>
          </p:nvSpPr>
          <p:spPr>
            <a:xfrm>
              <a:off x="7617579" y="773940"/>
              <a:ext cx="388616" cy="39345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</a:rPr>
                <a:t>14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19"/>
          <p:cNvGrpSpPr/>
          <p:nvPr/>
        </p:nvGrpSpPr>
        <p:grpSpPr>
          <a:xfrm>
            <a:off x="9990246" y="1481544"/>
            <a:ext cx="1763450" cy="393451"/>
            <a:chOff x="7617579" y="773940"/>
            <a:chExt cx="1763450" cy="393451"/>
          </a:xfrm>
        </p:grpSpPr>
        <p:sp>
          <p:nvSpPr>
            <p:cNvPr id="484" name="Google Shape;484;p19"/>
            <p:cNvSpPr txBox="1"/>
            <p:nvPr/>
          </p:nvSpPr>
          <p:spPr>
            <a:xfrm>
              <a:off x="8006195" y="778785"/>
              <a:ext cx="1374834" cy="388606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>
                  <a:solidFill>
                    <a:schemeClr val="dk1"/>
                  </a:solidFill>
                </a:rPr>
                <a:t>MWp FV</a:t>
              </a:r>
              <a:endParaRPr b="0"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9"/>
            <p:cNvSpPr txBox="1"/>
            <p:nvPr/>
          </p:nvSpPr>
          <p:spPr>
            <a:xfrm>
              <a:off x="7617579" y="773940"/>
              <a:ext cx="388616" cy="39345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</a:rPr>
                <a:t>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19"/>
          <p:cNvGrpSpPr/>
          <p:nvPr/>
        </p:nvGrpSpPr>
        <p:grpSpPr>
          <a:xfrm>
            <a:off x="5091002" y="4607157"/>
            <a:ext cx="2060858" cy="441400"/>
            <a:chOff x="5036452" y="4454744"/>
            <a:chExt cx="2060858" cy="441400"/>
          </a:xfrm>
        </p:grpSpPr>
        <p:sp>
          <p:nvSpPr>
            <p:cNvPr id="487" name="Google Shape;487;p19"/>
            <p:cNvSpPr txBox="1"/>
            <p:nvPr/>
          </p:nvSpPr>
          <p:spPr>
            <a:xfrm>
              <a:off x="5036452" y="4456920"/>
              <a:ext cx="1668107" cy="439224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800">
                  <a:solidFill>
                    <a:schemeClr val="dk1"/>
                  </a:solidFill>
                </a:rPr>
                <a:t>evitador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9"/>
            <p:cNvSpPr txBox="1"/>
            <p:nvPr/>
          </p:nvSpPr>
          <p:spPr>
            <a:xfrm>
              <a:off x="6708694" y="4454744"/>
              <a:ext cx="388616" cy="439224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s-ES" sz="1100">
                  <a:solidFill>
                    <a:schemeClr val="dk1"/>
                  </a:solidFill>
                </a:rPr>
                <a:t>9.5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p19"/>
          <p:cNvGrpSpPr/>
          <p:nvPr/>
        </p:nvGrpSpPr>
        <p:grpSpPr>
          <a:xfrm>
            <a:off x="7369452" y="4380446"/>
            <a:ext cx="2060858" cy="305046"/>
            <a:chOff x="5036452" y="4454744"/>
            <a:chExt cx="2060858" cy="305046"/>
          </a:xfrm>
        </p:grpSpPr>
        <p:sp>
          <p:nvSpPr>
            <p:cNvPr id="490" name="Google Shape;490;p19"/>
            <p:cNvSpPr txBox="1"/>
            <p:nvPr/>
          </p:nvSpPr>
          <p:spPr>
            <a:xfrm>
              <a:off x="5036452" y="4456920"/>
              <a:ext cx="1668107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FAMILIA</a:t>
              </a:r>
              <a:endParaRPr/>
            </a:p>
          </p:txBody>
        </p:sp>
        <p:sp>
          <p:nvSpPr>
            <p:cNvPr id="491" name="Google Shape;491;p19"/>
            <p:cNvSpPr txBox="1"/>
            <p:nvPr/>
          </p:nvSpPr>
          <p:spPr>
            <a:xfrm>
              <a:off x="6708694" y="4454744"/>
              <a:ext cx="388616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</a:rPr>
                <a:t>9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19"/>
          <p:cNvGrpSpPr/>
          <p:nvPr/>
        </p:nvGrpSpPr>
        <p:grpSpPr>
          <a:xfrm>
            <a:off x="7405836" y="6207747"/>
            <a:ext cx="2060858" cy="305046"/>
            <a:chOff x="5036452" y="4454744"/>
            <a:chExt cx="2060858" cy="305046"/>
          </a:xfrm>
        </p:grpSpPr>
        <p:sp>
          <p:nvSpPr>
            <p:cNvPr id="493" name="Google Shape;493;p19"/>
            <p:cNvSpPr txBox="1"/>
            <p:nvPr/>
          </p:nvSpPr>
          <p:spPr>
            <a:xfrm>
              <a:off x="5036452" y="4456920"/>
              <a:ext cx="1668107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s-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VIDA ESPIRITUAL</a:t>
              </a:r>
              <a:endParaRPr/>
            </a:p>
          </p:txBody>
        </p:sp>
        <p:sp>
          <p:nvSpPr>
            <p:cNvPr id="494" name="Google Shape;494;p19"/>
            <p:cNvSpPr txBox="1"/>
            <p:nvPr/>
          </p:nvSpPr>
          <p:spPr>
            <a:xfrm>
              <a:off x="6708694" y="4454744"/>
              <a:ext cx="388616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</a:rPr>
                <a:t>7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5" name="Google Shape;495;p19"/>
          <p:cNvGrpSpPr/>
          <p:nvPr/>
        </p:nvGrpSpPr>
        <p:grpSpPr>
          <a:xfrm>
            <a:off x="7412141" y="5608055"/>
            <a:ext cx="2060858" cy="305046"/>
            <a:chOff x="5036452" y="4454744"/>
            <a:chExt cx="2060858" cy="305046"/>
          </a:xfrm>
        </p:grpSpPr>
        <p:sp>
          <p:nvSpPr>
            <p:cNvPr id="496" name="Google Shape;496;p19"/>
            <p:cNvSpPr txBox="1"/>
            <p:nvPr/>
          </p:nvSpPr>
          <p:spPr>
            <a:xfrm>
              <a:off x="5036452" y="4456920"/>
              <a:ext cx="1668107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TRABAJO</a:t>
              </a:r>
              <a:endParaRPr/>
            </a:p>
          </p:txBody>
        </p:sp>
        <p:sp>
          <p:nvSpPr>
            <p:cNvPr id="497" name="Google Shape;497;p19"/>
            <p:cNvSpPr txBox="1"/>
            <p:nvPr/>
          </p:nvSpPr>
          <p:spPr>
            <a:xfrm>
              <a:off x="6708694" y="4454744"/>
              <a:ext cx="388616" cy="30287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>
                  <a:solidFill>
                    <a:schemeClr val="dk1"/>
                  </a:solidFill>
                </a:rPr>
                <a:t>9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19"/>
          <p:cNvSpPr txBox="1"/>
          <p:nvPr/>
        </p:nvSpPr>
        <p:spPr>
          <a:xfrm rot="231604">
            <a:off x="2915882" y="5791716"/>
            <a:ext cx="944743" cy="27091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 txBox="1"/>
          <p:nvPr/>
        </p:nvSpPr>
        <p:spPr>
          <a:xfrm rot="-250179">
            <a:off x="3041687" y="6143441"/>
            <a:ext cx="1369826" cy="32758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300">
                <a:solidFill>
                  <a:schemeClr val="dk1"/>
                </a:solidFill>
              </a:rPr>
              <a:t>early adopter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9"/>
          <p:cNvSpPr txBox="1"/>
          <p:nvPr/>
        </p:nvSpPr>
        <p:spPr>
          <a:xfrm rot="-198004">
            <a:off x="410723" y="4734104"/>
            <a:ext cx="2022053" cy="34917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Gestoría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energética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automatizada con 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 txBox="1"/>
          <p:nvPr/>
        </p:nvSpPr>
        <p:spPr>
          <a:xfrm rot="-233327">
            <a:off x="3039834" y="2310683"/>
            <a:ext cx="1729582" cy="44742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1300">
                <a:solidFill>
                  <a:schemeClr val="dk1"/>
                </a:solidFill>
              </a:rPr>
              <a:t>Somos una empresa de 3ple Impacto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02" name="Google Shape;502;p19"/>
          <p:cNvSpPr txBox="1"/>
          <p:nvPr/>
        </p:nvSpPr>
        <p:spPr>
          <a:xfrm rot="-233109">
            <a:off x="413360" y="3273276"/>
            <a:ext cx="1753329" cy="50124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1200">
                <a:solidFill>
                  <a:schemeClr val="dk1"/>
                </a:solidFill>
              </a:rPr>
              <a:t>Agente IA Venta bbas de calor 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03" name="Google Shape;503;p19"/>
          <p:cNvSpPr txBox="1"/>
          <p:nvPr/>
        </p:nvSpPr>
        <p:spPr>
          <a:xfrm rot="212603">
            <a:off x="2557185" y="3366238"/>
            <a:ext cx="2082381" cy="37812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 Proy en Vaca Muerta 80 MW en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 txBox="1"/>
          <p:nvPr/>
        </p:nvSpPr>
        <p:spPr>
          <a:xfrm rot="-188174">
            <a:off x="9780018" y="6262626"/>
            <a:ext cx="2012414" cy="22834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Terminar la obra del Estudio.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9786025" y="5030293"/>
            <a:ext cx="1696200" cy="258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Terminar Etiquetado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"/>
          <p:cNvSpPr/>
          <p:nvPr/>
        </p:nvSpPr>
        <p:spPr>
          <a:xfrm>
            <a:off x="0" y="202196"/>
            <a:ext cx="58027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económica,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financiera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y/o patrimonial – Cuadros y/o gráficos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321075" y="1387875"/>
            <a:ext cx="70311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2" name="Google Shape;512;p20"/>
          <p:cNvGraphicFramePr/>
          <p:nvPr/>
        </p:nvGraphicFramePr>
        <p:xfrm>
          <a:off x="409050" y="64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{12EFA4F1-44B6-4B03-93CD-EF903832A0CF}</a:tableStyleId>
              </a:tblPr>
              <a:tblGrid>
                <a:gridCol w="952500"/>
                <a:gridCol w="2019300"/>
                <a:gridCol w="1009650"/>
                <a:gridCol w="1114425"/>
                <a:gridCol w="1038225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Área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KPI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Actual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Meta 12m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Brecha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Tendencia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Crecimiento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Ingresos totales (USD)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886.288,38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1.500.000,00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613.711,62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</a:rPr>
                        <a:t>↑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Rentabilidad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Margen bruto % (portafolio)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40,80%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40%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-0,80%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→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EBITDA 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14,82%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20%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5,18%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↑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Comercial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Pipeline ponderado (próx. 90 días)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324.137,93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648.275,86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324.137,93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↑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Win rate 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14,50%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20%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5,50%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↑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Ciclo de ventas (días)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100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0,00%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→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Caja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Saldo caja (runway, meses)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13.860,41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89.655,17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USD 75.794,76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↑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Deuda viva (tasa/prom. plazo)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$93.899,38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$75.000,00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- $18.899,38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↓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000"/>
                        <a:t>Impacto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kWp instalados últimos 12m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842,00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2000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1158,00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/>
                        <a:t>↑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513" name="Google Shape;5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450" y="2900700"/>
            <a:ext cx="57150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100" y="2027250"/>
            <a:ext cx="10636074" cy="40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1"/>
          <p:cNvSpPr txBox="1"/>
          <p:nvPr/>
        </p:nvSpPr>
        <p:spPr>
          <a:xfrm>
            <a:off x="1124400" y="848075"/>
            <a:ext cx="5463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Previsión de ventas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825" y="284455"/>
            <a:ext cx="6508674" cy="9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388" y="1420950"/>
            <a:ext cx="9014126" cy="2368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1637" y="3943224"/>
            <a:ext cx="9014102" cy="22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400" y="4042787"/>
            <a:ext cx="2291300" cy="20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2"/>
          <p:cNvSpPr txBox="1"/>
          <p:nvPr/>
        </p:nvSpPr>
        <p:spPr>
          <a:xfrm>
            <a:off x="688400" y="271700"/>
            <a:ext cx="43704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0862" y="1267650"/>
            <a:ext cx="6636600" cy="9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388" y="804525"/>
            <a:ext cx="6555449" cy="28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500" y="3737475"/>
            <a:ext cx="6611234" cy="2898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3"/>
          <p:cNvSpPr txBox="1"/>
          <p:nvPr/>
        </p:nvSpPr>
        <p:spPr>
          <a:xfrm>
            <a:off x="1494500" y="245775"/>
            <a:ext cx="642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leads cerrados (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últimos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12 m)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