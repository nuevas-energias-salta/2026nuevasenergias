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7" name="Arturo Marguery"/>
  <p:cmAuthor clrIdx="1" id="1" initials="" lastIdx="13" name="Agustín Isasmend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3-12-14T00:15:54.144">
    <p:pos x="670" y="95"/>
    <p:text>pondría el logo sólo, o por lo menos bastante más grande! dale protagonismo a tu marca!!</p:text>
  </p:cm>
  <p:cm authorId="1" idx="1" dt="2023-11-21T13:42:03.665">
    <p:pos x="670" y="95"/>
    <p:text>_Marked as resolved_</p:text>
  </p:cm>
  <p:cm authorId="1" idx="2" dt="2023-12-14T00:15:54.144">
    <p:pos x="670" y="95"/>
    <p:text>_Re-opened_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3-12-18T14:22:48.867">
    <p:pos x="5373" y="3316"/>
    <p:text>tenés % d c/u d estas fuentes d ingresos?</p:text>
  </p:cm>
  <p:cm authorId="1" idx="3" dt="2023-12-18T14:22:48.867">
    <p:pos x="5373" y="3316"/>
    <p:text>ah! si, podría ponerlas.... ok!</p:text>
  </p:cm>
  <p:cm authorId="1" idx="4" dt="2023-12-18T14:02:59.781">
    <p:pos x="297" y="3736"/>
    <p:text>algunos de estos nros los terminaré de ajustar hoy/mañana.... tengo zoom con el contadorcito de mati ahora... a ver si saco algo. Estaban como el culo los informes de gestion que hizo.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3-12-14T00:15:36.743">
    <p:pos x="6024" y="463"/>
    <p:text>separalos</p:text>
  </p:cm>
  <p:cm authorId="1" idx="5" dt="2023-11-23T13:58:35.742">
    <p:pos x="6024" y="463"/>
    <p:text>_Marked as resolved_</p:text>
  </p:cm>
  <p:cm authorId="1" idx="6" dt="2023-12-14T00:15:36.743">
    <p:pos x="6024" y="463"/>
    <p:text>_Re-opened_</p:text>
  </p:cm>
  <p:cm authorId="0" idx="4" dt="2023-11-23T13:41:45.501">
    <p:pos x="4407" y="3401"/>
    <p:text>falta algo así como "generar información de gestión"!!
y la responsabilidad del presup financiero d quién es?</p:text>
  </p:cm>
  <p:cm authorId="0" idx="5" dt="2023-12-14T00:15:41.931">
    <p:pos x="2024" y="554"/>
    <p:text>acá (p todo el punto 6), va el nombre del área, por ej: "administración"</p:text>
  </p:cm>
  <p:cm authorId="1" idx="7" dt="2023-11-23T13:58:34.212">
    <p:pos x="2024" y="554"/>
    <p:text>_Marked as resolved_</p:text>
  </p:cm>
  <p:cm authorId="1" idx="8" dt="2023-12-14T00:15:41.931">
    <p:pos x="2024" y="554"/>
    <p:text>_Re-opened_</p:text>
  </p:cm>
  <p:cm authorId="0" idx="6" dt="2023-12-14T00:15:30.085">
    <p:pos x="3479" y="3392"/>
    <p:text>qué podrías poner en vez de "tratar con el cliente" que suena a una obligación medio garrón, para que sea más inspirador?</p:text>
  </p:cm>
  <p:cm authorId="1" idx="9" dt="2023-11-23T14:00:42.519">
    <p:pos x="3479" y="3392"/>
    <p:text>jajaja! "bancarse a los plomos de los clientes"!</p:text>
  </p:cm>
  <p:cm authorId="1" idx="10" dt="2023-12-14T00:14:06.936">
    <p:pos x="3479" y="3392"/>
    <p:text>_Marked as resolved_</p:text>
  </p:cm>
  <p:cm authorId="1" idx="11" dt="2023-12-14T00:15:30.085">
    <p:pos x="3479" y="3392"/>
    <p:text>_Re-opened_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3-12-14T00:15:50.024">
    <p:pos x="3259" y="343"/>
    <p:text>todos estos deberían estar escritos y en uso!</p:text>
  </p:cm>
  <p:cm authorId="1" idx="12" dt="2023-11-21T13:42:04.355">
    <p:pos x="3259" y="343"/>
    <p:text>_Marked as resolved_</p:text>
  </p:cm>
  <p:cm authorId="1" idx="13" dt="2023-12-14T00:15:50.024">
    <p:pos x="3259" y="343"/>
    <p:text>_Re-opened_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a804105e4d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a804105e4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a804105e4d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a804105e4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967d4e4fb9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2967d4e4fb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3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5125" y="151044"/>
            <a:ext cx="10515600" cy="5955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9148" y="4647025"/>
            <a:ext cx="1588901" cy="1944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166171" y="151061"/>
            <a:ext cx="10515600" cy="498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1" name="Google Shape;9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5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Google Shape;96;p15"/>
          <p:cNvCxnSpPr/>
          <p:nvPr/>
        </p:nvCxnSpPr>
        <p:spPr>
          <a:xfrm>
            <a:off x="1130800" y="3983725"/>
            <a:ext cx="10607100" cy="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97" name="Google Shape;97;p15"/>
          <p:cNvSpPr txBox="1"/>
          <p:nvPr/>
        </p:nvSpPr>
        <p:spPr>
          <a:xfrm rot="-2556706">
            <a:off x="955301" y="2253217"/>
            <a:ext cx="3095149" cy="719114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2013 primeras obras de PRE- Como Negocio secundario para ambos socios.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Hacíamos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PRE, luego Ñuke y bastante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después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Termos solares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1236359" y="3892462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2895404" y="3892450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3434202" y="3885125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4332897" y="3892525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5670812" y="3892532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4841289" y="3892517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6130014" y="3892520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 rot="-2556286">
            <a:off x="757505" y="4691877"/>
            <a:ext cx="2395791" cy="47494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Nov 18 - Primeros cierres de ventas de obras grandes de edificios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0" y="142873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Línea de Tiempo - Hitos Claves en la historia de la empresa</a:t>
            </a:r>
            <a:br>
              <a:rPr b="1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 rot="-2556291">
            <a:off x="3351490" y="2579550"/>
            <a:ext cx="2695371" cy="699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Julio 19 - Mi socio decide dejar NE porque la empresa estaba creciendo mucho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y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él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tenía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otros dos trabajos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 rot="-2556330">
            <a:off x="2076523" y="4808330"/>
            <a:ext cx="2599615" cy="41868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Ago-Dic 19 . Curso de Gestor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energético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 CFI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 rot="-2556330">
            <a:off x="4739854" y="2740427"/>
            <a:ext cx="2599615" cy="41868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 19 - Nos mudamos a la cantera. Eramos 3.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 rot="-2556330">
            <a:off x="3391802" y="4835896"/>
            <a:ext cx="2599615" cy="654151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junio 20 - Terra (empresa Desarrolladora) empieza a desaparecer y NE tiene que pagar sus costos fijos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 rot="-2556146">
            <a:off x="5956744" y="2480786"/>
            <a:ext cx="2915762" cy="62462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 20 - Contratos grandes con Saltapor. 3 Edificios grandes de PRE. 100% cobrado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entre canje y cash.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7013947" y="3918870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 rot="-2556330">
            <a:off x="6953767" y="2823246"/>
            <a:ext cx="2599615" cy="305735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julio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22 - Empiezo Vistage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7718059" y="3884270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 rot="-2556158">
            <a:off x="4986679" y="4957529"/>
            <a:ext cx="3012366" cy="461791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oct 22 - Hago la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NE en Vistage.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Resuelvo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Tomar otro comercial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7945522" y="3884270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 rot="-2556158">
            <a:off x="7792867" y="2548129"/>
            <a:ext cx="3012366" cy="461791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oct -dic 22 Ventas Grandes de ttqs solares de pl pl para empresas contratistas de IPV 70 M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8951859" y="3884270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 rot="-2556191">
            <a:off x="6047436" y="4858925"/>
            <a:ext cx="3256530" cy="60807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22 - Se va Rafa. El ing que se ocupaba de todos los presupuestos e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instalaciones. Entra Arq. Gabriel a hacerse cargo de las instalaciones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9251572" y="3884270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 rot="-2556158">
            <a:off x="8827267" y="2419279"/>
            <a:ext cx="3012366" cy="461791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oct -dic 22 Ventas Grandes de ttqs solares de pl pl para empresas contratistas de IPV 70 M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9844134" y="3900745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 rot="-2556158">
            <a:off x="7233567" y="4959179"/>
            <a:ext cx="3012366" cy="44948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feb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23 - Entra el colo como “comercial”. Termina haciendo laburo de PM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10819609" y="3894620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 rot="-2556158">
            <a:off x="8070516" y="4938648"/>
            <a:ext cx="3012366" cy="44863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23 - Me doy cuenta de que la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operación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los ttqs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había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salido muy mal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económ.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 rot="-2555908">
            <a:off x="9751942" y="2862554"/>
            <a:ext cx="1883265" cy="461791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feb 23- empezamos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xubio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11395609" y="3928882"/>
            <a:ext cx="198900" cy="1989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 rot="-2556158">
            <a:off x="8827266" y="5087900"/>
            <a:ext cx="3012366" cy="45032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sep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23 - Encontramos Misión, visión y prop.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 rot="-2556259">
            <a:off x="10797279" y="2916872"/>
            <a:ext cx="1507243" cy="76752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sept-oct 23- primera obra grande en la puna de sist de calefa electr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600">
        <p:push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16"/>
          <p:cNvGrpSpPr/>
          <p:nvPr/>
        </p:nvGrpSpPr>
        <p:grpSpPr>
          <a:xfrm>
            <a:off x="227338" y="180565"/>
            <a:ext cx="11737337" cy="6349464"/>
            <a:chOff x="0" y="0"/>
            <a:chExt cx="10224161" cy="7066738"/>
          </a:xfrm>
        </p:grpSpPr>
        <p:sp>
          <p:nvSpPr>
            <p:cNvPr id="136" name="Google Shape;136;p16"/>
            <p:cNvSpPr txBox="1"/>
            <p:nvPr/>
          </p:nvSpPr>
          <p:spPr>
            <a:xfrm>
              <a:off x="0" y="9427"/>
              <a:ext cx="3443189" cy="192339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37" name="Google Shape;137;p16"/>
            <p:cNvSpPr txBox="1"/>
            <p:nvPr/>
          </p:nvSpPr>
          <p:spPr>
            <a:xfrm>
              <a:off x="0" y="0"/>
              <a:ext cx="3443189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PROPÓSITO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6"/>
            <p:cNvSpPr txBox="1"/>
            <p:nvPr/>
          </p:nvSpPr>
          <p:spPr>
            <a:xfrm>
              <a:off x="0" y="1932495"/>
              <a:ext cx="10221595" cy="116649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39" name="Google Shape;139;p16"/>
            <p:cNvSpPr txBox="1"/>
            <p:nvPr/>
          </p:nvSpPr>
          <p:spPr>
            <a:xfrm>
              <a:off x="0" y="1932495"/>
              <a:ext cx="10221595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VALORES MEDULARES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3440784" y="9427"/>
              <a:ext cx="3379470" cy="192339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41" name="Google Shape;141;p16"/>
            <p:cNvSpPr txBox="1"/>
            <p:nvPr/>
          </p:nvSpPr>
          <p:spPr>
            <a:xfrm>
              <a:off x="3440784" y="0"/>
              <a:ext cx="3379668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MISIÓN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6"/>
            <p:cNvSpPr txBox="1"/>
            <p:nvPr/>
          </p:nvSpPr>
          <p:spPr>
            <a:xfrm>
              <a:off x="6825006" y="9427"/>
              <a:ext cx="3398520" cy="192339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6825006" y="0"/>
              <a:ext cx="3398893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META A 10 AÑOS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6"/>
            <p:cNvSpPr txBox="1"/>
            <p:nvPr/>
          </p:nvSpPr>
          <p:spPr>
            <a:xfrm>
              <a:off x="0" y="3252247"/>
              <a:ext cx="3373755" cy="188531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45" name="Google Shape;145;p16"/>
            <p:cNvSpPr txBox="1"/>
            <p:nvPr/>
          </p:nvSpPr>
          <p:spPr>
            <a:xfrm>
              <a:off x="0" y="3233394"/>
              <a:ext cx="3373755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FORTALEZAS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6"/>
            <p:cNvSpPr txBox="1"/>
            <p:nvPr/>
          </p:nvSpPr>
          <p:spPr>
            <a:xfrm>
              <a:off x="6825006" y="3242821"/>
              <a:ext cx="3399155" cy="191684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47" name="Google Shape;147;p16"/>
            <p:cNvSpPr txBox="1"/>
            <p:nvPr/>
          </p:nvSpPr>
          <p:spPr>
            <a:xfrm>
              <a:off x="6825006" y="3233394"/>
              <a:ext cx="3399155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METAS PARA EL AÑO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6"/>
            <p:cNvSpPr txBox="1"/>
            <p:nvPr/>
          </p:nvSpPr>
          <p:spPr>
            <a:xfrm>
              <a:off x="0" y="5137608"/>
              <a:ext cx="3373755" cy="192913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49" name="Google Shape;149;p16"/>
            <p:cNvSpPr txBox="1"/>
            <p:nvPr/>
          </p:nvSpPr>
          <p:spPr>
            <a:xfrm>
              <a:off x="0" y="5128181"/>
              <a:ext cx="3373755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DEBILIDADES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6"/>
            <p:cNvSpPr txBox="1"/>
            <p:nvPr/>
          </p:nvSpPr>
          <p:spPr>
            <a:xfrm>
              <a:off x="3374796" y="3252247"/>
              <a:ext cx="3373755" cy="188531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51" name="Google Shape;151;p16"/>
            <p:cNvSpPr txBox="1"/>
            <p:nvPr/>
          </p:nvSpPr>
          <p:spPr>
            <a:xfrm>
              <a:off x="3374796" y="3233394"/>
              <a:ext cx="3373755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OPORTUNIDADES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6"/>
            <p:cNvSpPr txBox="1"/>
            <p:nvPr/>
          </p:nvSpPr>
          <p:spPr>
            <a:xfrm>
              <a:off x="3374796" y="5137608"/>
              <a:ext cx="3373755" cy="192913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53" name="Google Shape;153;p16"/>
            <p:cNvSpPr txBox="1"/>
            <p:nvPr/>
          </p:nvSpPr>
          <p:spPr>
            <a:xfrm>
              <a:off x="3374796" y="5128181"/>
              <a:ext cx="3373755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AMENAZAS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6"/>
            <p:cNvSpPr txBox="1"/>
            <p:nvPr/>
          </p:nvSpPr>
          <p:spPr>
            <a:xfrm>
              <a:off x="6825006" y="5137608"/>
              <a:ext cx="3399155" cy="191643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55" name="Google Shape;155;p16"/>
            <p:cNvSpPr txBox="1"/>
            <p:nvPr/>
          </p:nvSpPr>
          <p:spPr>
            <a:xfrm>
              <a:off x="6825006" y="5128181"/>
              <a:ext cx="3399155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ROCAS A ACOMODAR EN EL 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TRIMESTRE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16"/>
          <p:cNvSpPr txBox="1"/>
          <p:nvPr/>
        </p:nvSpPr>
        <p:spPr>
          <a:xfrm rot="-174805">
            <a:off x="556908" y="586772"/>
            <a:ext cx="2927584" cy="1109934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Inspirar y acompañar la transición energética del mundo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 rot="-228760">
            <a:off x="333194" y="2332107"/>
            <a:ext cx="1633215" cy="46602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Eficiencia: Hacemos mucho con poco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 rot="236039">
            <a:off x="2157728" y="2313258"/>
            <a:ext cx="2374395" cy="525934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Responsabilidad: nos hacemos cargo de lo que nos toca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 rot="-295951">
            <a:off x="4726563" y="2332050"/>
            <a:ext cx="1800367" cy="466137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Entusiasmo: nos gusta lo que hacemos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 rot="320181">
            <a:off x="6667505" y="2319212"/>
            <a:ext cx="2664448" cy="52007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Creatividad: pensamos siempre diferentes maneras de hacer las cosas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 rot="-228638">
            <a:off x="9476930" y="2245028"/>
            <a:ext cx="2324740" cy="542097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Profesionalismo: cumplimos con lo prometido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 rot="-228653">
            <a:off x="305640" y="3526777"/>
            <a:ext cx="1457960" cy="46609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Grupo humano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 rot="-174938">
            <a:off x="8542710" y="569903"/>
            <a:ext cx="3031524" cy="127454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300">
                <a:solidFill>
                  <a:schemeClr val="dk1"/>
                </a:solidFill>
              </a:rPr>
              <a:t>Haber disminuido la huella de carbono en 300 Ton CO2 por año, con nuestras soluciones, directa o indirectamente.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 rot="187935">
            <a:off x="4510805" y="576406"/>
            <a:ext cx="3206390" cy="126158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</a:rPr>
              <a:t>Desde nuestro nuestro know - how, pensamos, analizamos y diseñamos proyectos a medida de cada cliente, explorando todas las alternativas, para luego implementar la mejor solución posible, eficiente y sustentable.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 rot="236243">
            <a:off x="2145965" y="3570397"/>
            <a:ext cx="1668939" cy="466107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Buen soporte técnico de proveedores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 rot="308848">
            <a:off x="413451" y="4223804"/>
            <a:ext cx="1457880" cy="46597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 how, formación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 rot="-228656">
            <a:off x="2148426" y="4177971"/>
            <a:ext cx="1457924" cy="46602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años en la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Construcción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 rot="-229466">
            <a:off x="4227493" y="3471701"/>
            <a:ext cx="994014" cy="69845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Mercado incipiente de EERR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 rot="235458">
            <a:off x="6581320" y="3412744"/>
            <a:ext cx="1358886" cy="82906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ratificación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compromisos acuerdo de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parís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COP28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 rot="308802">
            <a:off x="4202807" y="4302419"/>
            <a:ext cx="1043407" cy="410263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Turismo sustentable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 rot="-228656">
            <a:off x="4574413" y="5237824"/>
            <a:ext cx="1457924" cy="517451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solidFill>
                  <a:schemeClr val="dk1"/>
                </a:solidFill>
              </a:rPr>
              <a:t>Inestabilidad macro.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72" name="Google Shape;172;p16"/>
          <p:cNvSpPr txBox="1"/>
          <p:nvPr/>
        </p:nvSpPr>
        <p:spPr>
          <a:xfrm rot="236444">
            <a:off x="6200207" y="5242481"/>
            <a:ext cx="1462358" cy="353337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solidFill>
                  <a:schemeClr val="dk1"/>
                </a:solidFill>
              </a:rPr>
              <a:t>estanflación</a:t>
            </a:r>
            <a:r>
              <a:rPr lang="es-ES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73" name="Google Shape;173;p16"/>
          <p:cNvSpPr txBox="1"/>
          <p:nvPr/>
        </p:nvSpPr>
        <p:spPr>
          <a:xfrm rot="-228656">
            <a:off x="8244591" y="3499677"/>
            <a:ext cx="1457924" cy="46602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 empresa 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 rot="236271">
            <a:off x="10202533" y="3576018"/>
            <a:ext cx="1462405" cy="46609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Pagar los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créditos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más pesados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 txBox="1"/>
          <p:nvPr/>
        </p:nvSpPr>
        <p:spPr>
          <a:xfrm>
            <a:off x="8229350" y="4101375"/>
            <a:ext cx="1717200" cy="619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Posicionarnos como consultora en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transición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energética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 rot="-228656">
            <a:off x="8247038" y="5196188"/>
            <a:ext cx="1457924" cy="600727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empezar a medir la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reducción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 HC de todos los proy/obras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 rot="362836">
            <a:off x="10306776" y="5401872"/>
            <a:ext cx="1458013" cy="603063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Medir y mejorar objetivos internos para sist 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 rot="236373">
            <a:off x="5347794" y="4189506"/>
            <a:ext cx="1047976" cy="44293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Minería de Litio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 rot="308925">
            <a:off x="488687" y="5999458"/>
            <a:ext cx="1457960" cy="46609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finanzas complicadas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 txBox="1"/>
          <p:nvPr/>
        </p:nvSpPr>
        <p:spPr>
          <a:xfrm rot="-228656">
            <a:off x="2256177" y="5949936"/>
            <a:ext cx="1457924" cy="46602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poco patrimonio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 rot="-228653">
            <a:off x="413402" y="5297398"/>
            <a:ext cx="1457960" cy="46609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</a:rPr>
              <a:t>Info de </a:t>
            </a:r>
            <a:r>
              <a:rPr lang="es-ES">
                <a:solidFill>
                  <a:schemeClr val="dk1"/>
                </a:solidFill>
              </a:rPr>
              <a:t>gestión muy reciente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4" name="Google Shape;184;p16"/>
          <p:cNvSpPr txBox="1"/>
          <p:nvPr/>
        </p:nvSpPr>
        <p:spPr>
          <a:xfrm rot="236271">
            <a:off x="2254004" y="5333926"/>
            <a:ext cx="1462405" cy="46609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Deudas preexistentes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 txBox="1"/>
          <p:nvPr/>
        </p:nvSpPr>
        <p:spPr>
          <a:xfrm rot="-228337">
            <a:off x="5019912" y="5962429"/>
            <a:ext cx="1758277" cy="441061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productos en dolares (dolar caro)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 txBox="1"/>
          <p:nvPr/>
        </p:nvSpPr>
        <p:spPr>
          <a:xfrm rot="235562">
            <a:off x="6492870" y="4314636"/>
            <a:ext cx="1388960" cy="39302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Probable quita de subsidios a tarifas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 txBox="1"/>
          <p:nvPr/>
        </p:nvSpPr>
        <p:spPr>
          <a:xfrm rot="235378">
            <a:off x="5326797" y="3559189"/>
            <a:ext cx="1144482" cy="536171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Importaciones liberadas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10208775" y="4216800"/>
            <a:ext cx="1483200" cy="480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terminar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trámites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edificios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6"/>
          <p:cNvSpPr txBox="1"/>
          <p:nvPr/>
        </p:nvSpPr>
        <p:spPr>
          <a:xfrm rot="362915">
            <a:off x="8987690" y="5929148"/>
            <a:ext cx="1340965" cy="504403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generar 3 proyectos nuevos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17"/>
          <p:cNvGrpSpPr/>
          <p:nvPr/>
        </p:nvGrpSpPr>
        <p:grpSpPr>
          <a:xfrm>
            <a:off x="226368" y="245520"/>
            <a:ext cx="11739272" cy="6361779"/>
            <a:chOff x="0" y="0"/>
            <a:chExt cx="10210726" cy="7062366"/>
          </a:xfrm>
        </p:grpSpPr>
        <p:sp>
          <p:nvSpPr>
            <p:cNvPr id="195" name="Google Shape;195;p17"/>
            <p:cNvSpPr txBox="1"/>
            <p:nvPr/>
          </p:nvSpPr>
          <p:spPr>
            <a:xfrm>
              <a:off x="6192695" y="2541402"/>
              <a:ext cx="2035810" cy="252248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96" name="Google Shape;196;p17"/>
            <p:cNvSpPr txBox="1"/>
            <p:nvPr/>
          </p:nvSpPr>
          <p:spPr>
            <a:xfrm>
              <a:off x="8229600" y="0"/>
              <a:ext cx="1976453" cy="506158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97" name="Google Shape;197;p17"/>
            <p:cNvSpPr txBox="1"/>
            <p:nvPr/>
          </p:nvSpPr>
          <p:spPr>
            <a:xfrm>
              <a:off x="8229600" y="0"/>
              <a:ext cx="1976120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SEGMENTOS DE CLIENTES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7"/>
            <p:cNvSpPr txBox="1"/>
            <p:nvPr/>
          </p:nvSpPr>
          <p:spPr>
            <a:xfrm>
              <a:off x="6192695" y="0"/>
              <a:ext cx="2035810" cy="254140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99" name="Google Shape;199;p17"/>
            <p:cNvSpPr txBox="1"/>
            <p:nvPr/>
          </p:nvSpPr>
          <p:spPr>
            <a:xfrm>
              <a:off x="4130566" y="0"/>
              <a:ext cx="2064385" cy="5070191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00" name="Google Shape;200;p17"/>
            <p:cNvSpPr txBox="1"/>
            <p:nvPr/>
          </p:nvSpPr>
          <p:spPr>
            <a:xfrm>
              <a:off x="0" y="6306"/>
              <a:ext cx="2095916" cy="506158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01" name="Google Shape;201;p17"/>
            <p:cNvSpPr txBox="1"/>
            <p:nvPr/>
          </p:nvSpPr>
          <p:spPr>
            <a:xfrm>
              <a:off x="0" y="5063884"/>
              <a:ext cx="5114334" cy="199834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02" name="Google Shape;202;p17"/>
            <p:cNvSpPr txBox="1"/>
            <p:nvPr/>
          </p:nvSpPr>
          <p:spPr>
            <a:xfrm>
              <a:off x="5114334" y="5063884"/>
              <a:ext cx="5096392" cy="199848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03" name="Google Shape;203;p17"/>
            <p:cNvSpPr txBox="1"/>
            <p:nvPr/>
          </p:nvSpPr>
          <p:spPr>
            <a:xfrm>
              <a:off x="4130566" y="0"/>
              <a:ext cx="2062129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PROPUESTA DE VALOR CLIENTES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7"/>
            <p:cNvSpPr txBox="1"/>
            <p:nvPr/>
          </p:nvSpPr>
          <p:spPr>
            <a:xfrm>
              <a:off x="6192695" y="2541402"/>
              <a:ext cx="2035810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CANALES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7"/>
            <p:cNvSpPr txBox="1"/>
            <p:nvPr/>
          </p:nvSpPr>
          <p:spPr>
            <a:xfrm>
              <a:off x="6192695" y="0"/>
              <a:ext cx="2035810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RELACIONES CON CLIENTES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7"/>
            <p:cNvSpPr txBox="1"/>
            <p:nvPr/>
          </p:nvSpPr>
          <p:spPr>
            <a:xfrm>
              <a:off x="2093661" y="2541402"/>
              <a:ext cx="2035810" cy="25222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07" name="Google Shape;207;p17"/>
            <p:cNvSpPr txBox="1"/>
            <p:nvPr/>
          </p:nvSpPr>
          <p:spPr>
            <a:xfrm>
              <a:off x="2093661" y="0"/>
              <a:ext cx="2035810" cy="254127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08" name="Google Shape;208;p17"/>
            <p:cNvSpPr txBox="1"/>
            <p:nvPr/>
          </p:nvSpPr>
          <p:spPr>
            <a:xfrm>
              <a:off x="2093661" y="2541402"/>
              <a:ext cx="2035810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RECURSOS CLAVES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7"/>
            <p:cNvSpPr txBox="1"/>
            <p:nvPr/>
          </p:nvSpPr>
          <p:spPr>
            <a:xfrm>
              <a:off x="2093661" y="0"/>
              <a:ext cx="2035810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ACTIVIDADES CLAVES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7"/>
            <p:cNvSpPr txBox="1"/>
            <p:nvPr/>
          </p:nvSpPr>
          <p:spPr>
            <a:xfrm>
              <a:off x="0" y="6306"/>
              <a:ext cx="2095500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ASOCIACIONES CLAVES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17"/>
            <p:cNvSpPr txBox="1"/>
            <p:nvPr/>
          </p:nvSpPr>
          <p:spPr>
            <a:xfrm>
              <a:off x="5114334" y="5063884"/>
              <a:ext cx="5090795" cy="289517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FUENTES DE INGRESOS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17"/>
            <p:cNvSpPr txBox="1"/>
            <p:nvPr/>
          </p:nvSpPr>
          <p:spPr>
            <a:xfrm>
              <a:off x="0" y="5063884"/>
              <a:ext cx="5114334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COSTOS PRINCIPALES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p17"/>
          <p:cNvSpPr txBox="1"/>
          <p:nvPr/>
        </p:nvSpPr>
        <p:spPr>
          <a:xfrm rot="-361234">
            <a:off x="9995220" y="735290"/>
            <a:ext cx="1633208" cy="62506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Desarrolladoras inmobiliarias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 txBox="1"/>
          <p:nvPr/>
        </p:nvSpPr>
        <p:spPr>
          <a:xfrm rot="178776">
            <a:off x="9995170" y="2278436"/>
            <a:ext cx="1633308" cy="569575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Proveedoras/contratistas de mineras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 txBox="1"/>
          <p:nvPr/>
        </p:nvSpPr>
        <p:spPr>
          <a:xfrm rot="-228880">
            <a:off x="450212" y="735584"/>
            <a:ext cx="1907426" cy="35058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 (Benja Cornejo)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 txBox="1"/>
          <p:nvPr/>
        </p:nvSpPr>
        <p:spPr>
          <a:xfrm rot="-349210">
            <a:off x="580517" y="1174622"/>
            <a:ext cx="905267" cy="30457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WEGA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 txBox="1"/>
          <p:nvPr/>
        </p:nvSpPr>
        <p:spPr>
          <a:xfrm rot="225610">
            <a:off x="565198" y="1921740"/>
            <a:ext cx="1633116" cy="46600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UCASal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 txBox="1"/>
          <p:nvPr/>
        </p:nvSpPr>
        <p:spPr>
          <a:xfrm rot="178224">
            <a:off x="7381677" y="2933555"/>
            <a:ext cx="1001546" cy="28928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 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 txBox="1"/>
          <p:nvPr/>
        </p:nvSpPr>
        <p:spPr>
          <a:xfrm rot="-318197">
            <a:off x="7382153" y="3279734"/>
            <a:ext cx="1272346" cy="46518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Fza Venta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 txBox="1"/>
          <p:nvPr/>
        </p:nvSpPr>
        <p:spPr>
          <a:xfrm rot="-159824">
            <a:off x="7794718" y="649289"/>
            <a:ext cx="1633165" cy="50184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Servicios Posventa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 rot="-168024">
            <a:off x="2962025" y="2985051"/>
            <a:ext cx="1633351" cy="410293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Equipos humano de trabajo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 txBox="1"/>
          <p:nvPr/>
        </p:nvSpPr>
        <p:spPr>
          <a:xfrm rot="-243967">
            <a:off x="2943585" y="3511377"/>
            <a:ext cx="1633111" cy="283314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depósito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 txBox="1"/>
          <p:nvPr/>
        </p:nvSpPr>
        <p:spPr>
          <a:xfrm rot="178776">
            <a:off x="2880581" y="693421"/>
            <a:ext cx="1633308" cy="46170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Elaboracion de Proyectos de EE y EERR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 txBox="1"/>
          <p:nvPr/>
        </p:nvSpPr>
        <p:spPr>
          <a:xfrm rot="-317351">
            <a:off x="2725674" y="1267708"/>
            <a:ext cx="2102352" cy="667584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Consultoría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energética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medición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HC a empresas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 txBox="1"/>
          <p:nvPr/>
        </p:nvSpPr>
        <p:spPr>
          <a:xfrm rot="-234698">
            <a:off x="2693728" y="1980657"/>
            <a:ext cx="2132869" cy="348207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Instalaciones y obras de EE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 txBox="1"/>
          <p:nvPr/>
        </p:nvSpPr>
        <p:spPr>
          <a:xfrm rot="-174641">
            <a:off x="5269321" y="696129"/>
            <a:ext cx="1866908" cy="394589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Llevamos a cabo la mejor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transición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energética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las empresas,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acompañandolas, desde el planteo de la necesidad de origen, el diseño del proyecto energético sustentable y luego su provisión e instalación. L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asesoramos en el uso de los equipos y en su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energética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traves de asesorías y servicios PV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 txBox="1"/>
          <p:nvPr/>
        </p:nvSpPr>
        <p:spPr>
          <a:xfrm rot="-344305">
            <a:off x="6399551" y="5280013"/>
            <a:ext cx="1905248" cy="49087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cobro de honorarios por proyectos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consultorías 1%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 txBox="1"/>
          <p:nvPr/>
        </p:nvSpPr>
        <p:spPr>
          <a:xfrm rot="-365128">
            <a:off x="8550971" y="5192065"/>
            <a:ext cx="1341359" cy="44592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Venta de equipos 79%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 txBox="1"/>
          <p:nvPr/>
        </p:nvSpPr>
        <p:spPr>
          <a:xfrm rot="178758">
            <a:off x="369317" y="5351685"/>
            <a:ext cx="2158718" cy="45753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Costos Fijos mensuales 8.5k U$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 txBox="1"/>
          <p:nvPr/>
        </p:nvSpPr>
        <p:spPr>
          <a:xfrm rot="-317465">
            <a:off x="2787915" y="5281779"/>
            <a:ext cx="1272020" cy="51369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43% promedio rentabilidad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 txBox="1"/>
          <p:nvPr/>
        </p:nvSpPr>
        <p:spPr>
          <a:xfrm>
            <a:off x="472175" y="5931125"/>
            <a:ext cx="1956900" cy="492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comisiones y premios  2.5 %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 txBox="1"/>
          <p:nvPr/>
        </p:nvSpPr>
        <p:spPr>
          <a:xfrm rot="-234513">
            <a:off x="2521923" y="5903465"/>
            <a:ext cx="1936504" cy="55055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99% rentab. consultorias y proyectos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7"/>
          <p:cNvSpPr txBox="1"/>
          <p:nvPr/>
        </p:nvSpPr>
        <p:spPr>
          <a:xfrm rot="178776">
            <a:off x="9995176" y="3006625"/>
            <a:ext cx="1633308" cy="51249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Hoteles/Bodegas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 txBox="1"/>
          <p:nvPr/>
        </p:nvSpPr>
        <p:spPr>
          <a:xfrm rot="225610">
            <a:off x="565186" y="2643552"/>
            <a:ext cx="1633116" cy="46600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Norte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 txBox="1"/>
          <p:nvPr/>
        </p:nvSpPr>
        <p:spPr>
          <a:xfrm rot="178762">
            <a:off x="8525203" y="2946305"/>
            <a:ext cx="513694" cy="28928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 rot="-360428">
            <a:off x="10064582" y="1592509"/>
            <a:ext cx="1436186" cy="495625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Residencial ABC1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7"/>
          <p:cNvSpPr txBox="1"/>
          <p:nvPr/>
        </p:nvSpPr>
        <p:spPr>
          <a:xfrm rot="178834">
            <a:off x="4315234" y="5224332"/>
            <a:ext cx="1598162" cy="495987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 Venta e inst.  36k U$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7"/>
          <p:cNvSpPr txBox="1"/>
          <p:nvPr/>
        </p:nvSpPr>
        <p:spPr>
          <a:xfrm rot="-364946">
            <a:off x="6357553" y="5982897"/>
            <a:ext cx="1384494" cy="29445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Instalaciones 15%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7"/>
          <p:cNvSpPr txBox="1"/>
          <p:nvPr/>
        </p:nvSpPr>
        <p:spPr>
          <a:xfrm rot="-364946">
            <a:off x="8313415" y="5796225"/>
            <a:ext cx="1384494" cy="64835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Servicios posventa y mantenimiento 5%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7"/>
          <p:cNvSpPr txBox="1"/>
          <p:nvPr/>
        </p:nvSpPr>
        <p:spPr>
          <a:xfrm rot="-365051">
            <a:off x="10272644" y="5970544"/>
            <a:ext cx="1519962" cy="365355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capacitaciones 0%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7"/>
          <p:cNvSpPr txBox="1"/>
          <p:nvPr/>
        </p:nvSpPr>
        <p:spPr>
          <a:xfrm>
            <a:off x="4551275" y="5830000"/>
            <a:ext cx="1480200" cy="546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costos intereses mensual 4k U$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7"/>
          <p:cNvSpPr txBox="1"/>
          <p:nvPr/>
        </p:nvSpPr>
        <p:spPr>
          <a:xfrm rot="-349276">
            <a:off x="584462" y="3340390"/>
            <a:ext cx="1236376" cy="39955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Saltapor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7"/>
          <p:cNvSpPr txBox="1"/>
          <p:nvPr/>
        </p:nvSpPr>
        <p:spPr>
          <a:xfrm rot="-348853">
            <a:off x="7491320" y="1206695"/>
            <a:ext cx="2013760" cy="59526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Eventos/Ferias/capacitaciones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7"/>
          <p:cNvSpPr txBox="1"/>
          <p:nvPr/>
        </p:nvSpPr>
        <p:spPr>
          <a:xfrm rot="225631">
            <a:off x="7470938" y="1910197"/>
            <a:ext cx="1985174" cy="46600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Blog/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Newsletters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/Tutoriales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7"/>
          <p:cNvSpPr txBox="1"/>
          <p:nvPr/>
        </p:nvSpPr>
        <p:spPr>
          <a:xfrm rot="225953">
            <a:off x="7475010" y="3882572"/>
            <a:ext cx="1470776" cy="488855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dateros (comisionistas)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7"/>
          <p:cNvSpPr txBox="1"/>
          <p:nvPr/>
        </p:nvSpPr>
        <p:spPr>
          <a:xfrm rot="178707">
            <a:off x="7468166" y="4445105"/>
            <a:ext cx="1605068" cy="28928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Boca a Boca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7"/>
          <p:cNvSpPr txBox="1"/>
          <p:nvPr/>
        </p:nvSpPr>
        <p:spPr>
          <a:xfrm rot="-318080">
            <a:off x="8784932" y="3362851"/>
            <a:ext cx="873436" cy="34135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Cámaras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7"/>
          <p:cNvSpPr txBox="1"/>
          <p:nvPr/>
        </p:nvSpPr>
        <p:spPr>
          <a:xfrm rot="-360428">
            <a:off x="10064582" y="3709459"/>
            <a:ext cx="1436186" cy="495625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Comercial (EESS)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8"/>
          <p:cNvSpPr/>
          <p:nvPr/>
        </p:nvSpPr>
        <p:spPr>
          <a:xfrm>
            <a:off x="0" y="202196"/>
            <a:ext cx="5802742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Cash Flow Proyectado 2024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900" y="676425"/>
            <a:ext cx="10850200" cy="607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563" y="204088"/>
            <a:ext cx="11666876" cy="644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1" cy="5957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oogle Shape;271;p21"/>
          <p:cNvGrpSpPr/>
          <p:nvPr/>
        </p:nvGrpSpPr>
        <p:grpSpPr>
          <a:xfrm>
            <a:off x="196312" y="54758"/>
            <a:ext cx="11876282" cy="6653491"/>
            <a:chOff x="0" y="0"/>
            <a:chExt cx="10234645" cy="7157370"/>
          </a:xfrm>
        </p:grpSpPr>
        <p:grpSp>
          <p:nvGrpSpPr>
            <p:cNvPr id="272" name="Google Shape;272;p21"/>
            <p:cNvGrpSpPr/>
            <p:nvPr/>
          </p:nvGrpSpPr>
          <p:grpSpPr>
            <a:xfrm>
              <a:off x="0" y="6306"/>
              <a:ext cx="2095500" cy="2076845"/>
              <a:chOff x="0" y="0"/>
              <a:chExt cx="2095500" cy="2076845"/>
            </a:xfrm>
          </p:grpSpPr>
          <p:sp>
            <p:nvSpPr>
              <p:cNvPr id="273" name="Google Shape;273;p21"/>
              <p:cNvSpPr txBox="1"/>
              <p:nvPr/>
            </p:nvSpPr>
            <p:spPr>
              <a:xfrm>
                <a:off x="0" y="6307"/>
                <a:ext cx="2095500" cy="1036948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74" name="Google Shape;274;p21"/>
              <p:cNvSpPr txBox="1"/>
              <p:nvPr/>
            </p:nvSpPr>
            <p:spPr>
              <a:xfrm>
                <a:off x="0" y="0"/>
                <a:ext cx="2095500" cy="283210"/>
              </a:xfrm>
              <a:prstGeom prst="rect">
                <a:avLst/>
              </a:prstGeom>
              <a:solidFill>
                <a:srgbClr val="D5DBE5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r>
                  <a:rPr b="1"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ROL VISIONARIO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21"/>
              <p:cNvSpPr txBox="1"/>
              <p:nvPr/>
            </p:nvSpPr>
            <p:spPr>
              <a:xfrm>
                <a:off x="0" y="1040525"/>
                <a:ext cx="2095500" cy="10363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76" name="Google Shape;276;p21"/>
              <p:cNvSpPr txBox="1"/>
              <p:nvPr/>
            </p:nvSpPr>
            <p:spPr>
              <a:xfrm>
                <a:off x="0" y="1040525"/>
                <a:ext cx="2095500" cy="283210"/>
              </a:xfrm>
              <a:prstGeom prst="rect">
                <a:avLst/>
              </a:prstGeom>
              <a:solidFill>
                <a:srgbClr val="D5DBE5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r>
                  <a:rPr b="1"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ROL INTEGRADOR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7" name="Google Shape;277;p21"/>
            <p:cNvGrpSpPr/>
            <p:nvPr/>
          </p:nvGrpSpPr>
          <p:grpSpPr>
            <a:xfrm>
              <a:off x="2207172" y="0"/>
              <a:ext cx="8027473" cy="2088471"/>
              <a:chOff x="0" y="0"/>
              <a:chExt cx="8027473" cy="2088471"/>
            </a:xfrm>
          </p:grpSpPr>
          <p:sp>
            <p:nvSpPr>
              <p:cNvPr id="278" name="Google Shape;278;p21"/>
              <p:cNvSpPr txBox="1"/>
              <p:nvPr/>
            </p:nvSpPr>
            <p:spPr>
              <a:xfrm>
                <a:off x="0" y="6306"/>
                <a:ext cx="8027189" cy="2082165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79" name="Google Shape;279;p21"/>
              <p:cNvSpPr txBox="1"/>
              <p:nvPr/>
            </p:nvSpPr>
            <p:spPr>
              <a:xfrm>
                <a:off x="0" y="0"/>
                <a:ext cx="8027189" cy="283210"/>
              </a:xfrm>
              <a:prstGeom prst="rect">
                <a:avLst/>
              </a:prstGeom>
              <a:solidFill>
                <a:srgbClr val="D5DBE5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</a:t>
                </a:r>
                <a:r>
                  <a:rPr b="1"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ÁREAS QUE REPORTAN AL CEO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21"/>
              <p:cNvSpPr txBox="1"/>
              <p:nvPr/>
            </p:nvSpPr>
            <p:spPr>
              <a:xfrm>
                <a:off x="0" y="283780"/>
                <a:ext cx="2579239" cy="1804691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81" name="Google Shape;281;p21"/>
              <p:cNvSpPr txBox="1"/>
              <p:nvPr/>
            </p:nvSpPr>
            <p:spPr>
              <a:xfrm>
                <a:off x="0" y="283780"/>
                <a:ext cx="2579239" cy="283210"/>
              </a:xfrm>
              <a:prstGeom prst="rect">
                <a:avLst/>
              </a:prstGeom>
              <a:solidFill>
                <a:srgbClr val="D5DBE5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6.1</a:t>
                </a:r>
                <a:r>
                  <a:rPr b="1"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ADMINISTRACIÓN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21"/>
              <p:cNvSpPr txBox="1"/>
              <p:nvPr/>
            </p:nvSpPr>
            <p:spPr>
              <a:xfrm>
                <a:off x="5480094" y="283780"/>
                <a:ext cx="2547379" cy="180467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83" name="Google Shape;283;p21"/>
              <p:cNvSpPr txBox="1"/>
              <p:nvPr/>
            </p:nvSpPr>
            <p:spPr>
              <a:xfrm>
                <a:off x="5480094" y="283780"/>
                <a:ext cx="2547379" cy="283210"/>
              </a:xfrm>
              <a:prstGeom prst="rect">
                <a:avLst/>
              </a:prstGeom>
              <a:solidFill>
                <a:srgbClr val="D5DBE5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6.3</a:t>
                </a:r>
                <a:r>
                  <a:rPr b="1"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VENTAS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21"/>
              <p:cNvSpPr txBox="1"/>
              <p:nvPr/>
            </p:nvSpPr>
            <p:spPr>
              <a:xfrm>
                <a:off x="2579239" y="283780"/>
                <a:ext cx="2900855" cy="283210"/>
              </a:xfrm>
              <a:prstGeom prst="rect">
                <a:avLst/>
              </a:prstGeom>
              <a:solidFill>
                <a:srgbClr val="D5DBE5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6.2</a:t>
                </a:r>
                <a:r>
                  <a:rPr b="1"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OPERACIONES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5" name="Google Shape;285;p21"/>
            <p:cNvGrpSpPr/>
            <p:nvPr/>
          </p:nvGrpSpPr>
          <p:grpSpPr>
            <a:xfrm>
              <a:off x="2207172" y="2156723"/>
              <a:ext cx="6336665" cy="1770840"/>
              <a:chOff x="0" y="0"/>
              <a:chExt cx="6336665" cy="1770840"/>
            </a:xfrm>
          </p:grpSpPr>
          <p:sp>
            <p:nvSpPr>
              <p:cNvPr id="286" name="Google Shape;286;p21"/>
              <p:cNvSpPr txBox="1"/>
              <p:nvPr/>
            </p:nvSpPr>
            <p:spPr>
              <a:xfrm>
                <a:off x="0" y="0"/>
                <a:ext cx="6336665" cy="283169"/>
              </a:xfrm>
              <a:prstGeom prst="rect">
                <a:avLst/>
              </a:prstGeom>
              <a:solidFill>
                <a:srgbClr val="D5DBE5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</a:t>
                </a:r>
                <a:r>
                  <a:rPr b="1"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TU EQUIPO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7" name="Google Shape;287;p21"/>
              <p:cNvGrpSpPr/>
              <p:nvPr/>
            </p:nvGrpSpPr>
            <p:grpSpPr>
              <a:xfrm>
                <a:off x="4988210" y="283779"/>
                <a:ext cx="1344712" cy="1443674"/>
                <a:chOff x="0" y="0"/>
                <a:chExt cx="1344712" cy="1443674"/>
              </a:xfrm>
            </p:grpSpPr>
            <p:sp>
              <p:nvSpPr>
                <p:cNvPr id="288" name="Google Shape;288;p21"/>
                <p:cNvSpPr txBox="1"/>
                <p:nvPr/>
              </p:nvSpPr>
              <p:spPr>
                <a:xfrm>
                  <a:off x="0" y="0"/>
                  <a:ext cx="1344712" cy="283169"/>
                </a:xfrm>
                <a:prstGeom prst="rect">
                  <a:avLst/>
                </a:prstGeom>
                <a:solidFill>
                  <a:srgbClr val="D5DBE5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7.4</a:t>
                  </a:r>
                  <a:r>
                    <a:rPr b="1" lang="es-ES"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PUESTO</a:t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" name="Google Shape;289;p21"/>
                <p:cNvSpPr txBox="1"/>
                <p:nvPr/>
              </p:nvSpPr>
              <p:spPr>
                <a:xfrm rot="-5400000">
                  <a:off x="533826" y="634727"/>
                  <a:ext cx="1160610" cy="445748"/>
                </a:xfrm>
                <a:prstGeom prst="rect">
                  <a:avLst/>
                </a:prstGeom>
                <a:solidFill>
                  <a:srgbClr val="D5DBE5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s-ES"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CAPACIDADES</a:t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" name="Google Shape;290;p21"/>
                <p:cNvSpPr txBox="1"/>
                <p:nvPr/>
              </p:nvSpPr>
              <p:spPr>
                <a:xfrm rot="-5400000">
                  <a:off x="88605" y="637245"/>
                  <a:ext cx="1160610" cy="450828"/>
                </a:xfrm>
                <a:prstGeom prst="rect">
                  <a:avLst/>
                </a:prstGeom>
                <a:solidFill>
                  <a:srgbClr val="D5DBE5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s-ES"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DESEA</a:t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" name="Google Shape;291;p21"/>
                <p:cNvSpPr txBox="1"/>
                <p:nvPr/>
              </p:nvSpPr>
              <p:spPr>
                <a:xfrm rot="-5400000">
                  <a:off x="-355666" y="640716"/>
                  <a:ext cx="1160145" cy="445770"/>
                </a:xfrm>
                <a:prstGeom prst="rect">
                  <a:avLst/>
                </a:prstGeom>
                <a:solidFill>
                  <a:srgbClr val="D5DBE5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7.5 </a:t>
                  </a:r>
                  <a:r>
                    <a:rPr b="1" lang="es-ES"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COMPRENDE</a:t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92" name="Google Shape;292;p21"/>
              <p:cNvGrpSpPr/>
              <p:nvPr/>
            </p:nvGrpSpPr>
            <p:grpSpPr>
              <a:xfrm>
                <a:off x="0" y="283779"/>
                <a:ext cx="4946619" cy="1487061"/>
                <a:chOff x="0" y="0"/>
                <a:chExt cx="4946619" cy="1487061"/>
              </a:xfrm>
            </p:grpSpPr>
            <p:sp>
              <p:nvSpPr>
                <p:cNvPr id="293" name="Google Shape;293;p21"/>
                <p:cNvSpPr txBox="1"/>
                <p:nvPr/>
              </p:nvSpPr>
              <p:spPr>
                <a:xfrm>
                  <a:off x="1734207" y="0"/>
                  <a:ext cx="3212412" cy="283130"/>
                </a:xfrm>
                <a:prstGeom prst="rect">
                  <a:avLst/>
                </a:prstGeom>
                <a:solidFill>
                  <a:srgbClr val="D5DBE5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7.2</a:t>
                  </a:r>
                  <a:r>
                    <a:rPr b="1" lang="es-ES"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COMPORTAMIENTOS</a:t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" name="Google Shape;294;p21"/>
                <p:cNvSpPr txBox="1"/>
                <p:nvPr/>
              </p:nvSpPr>
              <p:spPr>
                <a:xfrm>
                  <a:off x="0" y="1204486"/>
                  <a:ext cx="1671145" cy="282575"/>
                </a:xfrm>
                <a:prstGeom prst="rect">
                  <a:avLst/>
                </a:prstGeom>
                <a:solidFill>
                  <a:srgbClr val="D5DBE5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7.1</a:t>
                  </a:r>
                  <a:r>
                    <a:rPr b="1" lang="es-ES"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PERSONA</a:t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" name="Google Shape;295;p21"/>
                <p:cNvSpPr txBox="1"/>
                <p:nvPr/>
              </p:nvSpPr>
              <p:spPr>
                <a:xfrm>
                  <a:off x="277474" y="624315"/>
                  <a:ext cx="1356973" cy="308610"/>
                </a:xfrm>
                <a:prstGeom prst="rect">
                  <a:avLst/>
                </a:prstGeom>
                <a:solidFill>
                  <a:srgbClr val="D5DBE5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7.3</a:t>
                  </a:r>
                  <a:r>
                    <a:rPr b="1" lang="es-ES"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</a:t>
                  </a:r>
                  <a:r>
                    <a:rPr b="1" lang="es-ES"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(+)  (+/-)  (-)</a:t>
                  </a:r>
                  <a:endParaRPr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96" name="Google Shape;296;p21"/>
            <p:cNvGrpSpPr/>
            <p:nvPr/>
          </p:nvGrpSpPr>
          <p:grpSpPr>
            <a:xfrm>
              <a:off x="0" y="2150417"/>
              <a:ext cx="2095500" cy="5001895"/>
              <a:chOff x="0" y="0"/>
              <a:chExt cx="2095500" cy="5001895"/>
            </a:xfrm>
          </p:grpSpPr>
          <p:sp>
            <p:nvSpPr>
              <p:cNvPr id="297" name="Google Shape;297;p21"/>
              <p:cNvSpPr txBox="1"/>
              <p:nvPr/>
            </p:nvSpPr>
            <p:spPr>
              <a:xfrm>
                <a:off x="0" y="0"/>
                <a:ext cx="2095500" cy="202429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98" name="Google Shape;298;p21"/>
              <p:cNvSpPr txBox="1"/>
              <p:nvPr/>
            </p:nvSpPr>
            <p:spPr>
              <a:xfrm>
                <a:off x="0" y="0"/>
                <a:ext cx="2095500" cy="283210"/>
              </a:xfrm>
              <a:prstGeom prst="rect">
                <a:avLst/>
              </a:prstGeom>
              <a:solidFill>
                <a:srgbClr val="D5DBE5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r>
                  <a:rPr b="1"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PROPIETARIOS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21"/>
              <p:cNvSpPr txBox="1"/>
              <p:nvPr/>
            </p:nvSpPr>
            <p:spPr>
              <a:xfrm>
                <a:off x="0" y="2030598"/>
                <a:ext cx="2095500" cy="2118886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300" name="Google Shape;300;p21"/>
              <p:cNvSpPr txBox="1"/>
              <p:nvPr/>
            </p:nvSpPr>
            <p:spPr>
              <a:xfrm>
                <a:off x="0" y="2024292"/>
                <a:ext cx="2095500" cy="263118"/>
              </a:xfrm>
              <a:prstGeom prst="rect">
                <a:avLst/>
              </a:prstGeom>
              <a:solidFill>
                <a:srgbClr val="D5DBE5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r>
                  <a:rPr b="1"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DIRECTORIO DE GESTIÓN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21"/>
              <p:cNvSpPr txBox="1"/>
              <p:nvPr/>
            </p:nvSpPr>
            <p:spPr>
              <a:xfrm>
                <a:off x="0" y="4389120"/>
                <a:ext cx="2095500" cy="612775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302" name="Google Shape;302;p21"/>
              <p:cNvSpPr txBox="1"/>
              <p:nvPr/>
            </p:nvSpPr>
            <p:spPr>
              <a:xfrm>
                <a:off x="0" y="4143178"/>
                <a:ext cx="2095500" cy="262890"/>
              </a:xfrm>
              <a:prstGeom prst="rect">
                <a:avLst/>
              </a:prstGeom>
              <a:solidFill>
                <a:srgbClr val="D5DBE5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r>
                  <a:rPr b="1"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CEO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3" name="Google Shape;303;p21"/>
            <p:cNvGrpSpPr/>
            <p:nvPr/>
          </p:nvGrpSpPr>
          <p:grpSpPr>
            <a:xfrm>
              <a:off x="8607972" y="2156723"/>
              <a:ext cx="1622425" cy="3189736"/>
              <a:chOff x="0" y="0"/>
              <a:chExt cx="1622425" cy="3189736"/>
            </a:xfrm>
          </p:grpSpPr>
          <p:sp>
            <p:nvSpPr>
              <p:cNvPr id="304" name="Google Shape;304;p21"/>
              <p:cNvSpPr txBox="1"/>
              <p:nvPr/>
            </p:nvSpPr>
            <p:spPr>
              <a:xfrm>
                <a:off x="0" y="6306"/>
                <a:ext cx="1622425" cy="318343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305" name="Google Shape;305;p21"/>
              <p:cNvSpPr txBox="1"/>
              <p:nvPr/>
            </p:nvSpPr>
            <p:spPr>
              <a:xfrm>
                <a:off x="0" y="0"/>
                <a:ext cx="1622425" cy="283210"/>
              </a:xfrm>
              <a:prstGeom prst="rect">
                <a:avLst/>
              </a:prstGeom>
              <a:solidFill>
                <a:srgbClr val="D5DBE5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8</a:t>
                </a:r>
                <a:r>
                  <a:rPr b="1"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TU FOCO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6" name="Google Shape;306;p21"/>
            <p:cNvGrpSpPr/>
            <p:nvPr/>
          </p:nvGrpSpPr>
          <p:grpSpPr>
            <a:xfrm>
              <a:off x="2213479" y="5424149"/>
              <a:ext cx="1078361" cy="1733221"/>
              <a:chOff x="0" y="-18108"/>
              <a:chExt cx="1078361" cy="1733221"/>
            </a:xfrm>
          </p:grpSpPr>
          <p:sp>
            <p:nvSpPr>
              <p:cNvPr id="307" name="Google Shape;307;p21"/>
              <p:cNvSpPr txBox="1"/>
              <p:nvPr/>
            </p:nvSpPr>
            <p:spPr>
              <a:xfrm>
                <a:off x="0" y="-18108"/>
                <a:ext cx="1078361" cy="283210"/>
              </a:xfrm>
              <a:prstGeom prst="rect">
                <a:avLst/>
              </a:prstGeom>
              <a:solidFill>
                <a:srgbClr val="D5DBE5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7.5.1</a:t>
                </a:r>
                <a:r>
                  <a:rPr b="1"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PUESTO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21"/>
              <p:cNvSpPr txBox="1"/>
              <p:nvPr/>
            </p:nvSpPr>
            <p:spPr>
              <a:xfrm>
                <a:off x="0" y="303508"/>
                <a:ext cx="1078230" cy="1411605"/>
              </a:xfrm>
              <a:prstGeom prst="rect">
                <a:avLst/>
              </a:prstGeom>
              <a:solidFill>
                <a:srgbClr val="D5DBE5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7.5.2</a:t>
                </a:r>
                <a:r>
                  <a:rPr b="1" lang="es-E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RENDICIÓN DE CUENTAS 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9" name="Google Shape;309;p21"/>
          <p:cNvSpPr txBox="1"/>
          <p:nvPr/>
        </p:nvSpPr>
        <p:spPr>
          <a:xfrm rot="-230608">
            <a:off x="543563" y="1458500"/>
            <a:ext cx="1633574" cy="45493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 sz="2000">
                <a:solidFill>
                  <a:schemeClr val="dk1"/>
                </a:solidFill>
              </a:rPr>
              <a:t>AI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 rot="213517">
            <a:off x="520300" y="4792077"/>
            <a:ext cx="1633650" cy="48754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 sz="2000">
                <a:solidFill>
                  <a:schemeClr val="dk1"/>
                </a:solidFill>
              </a:rPr>
              <a:t>AI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3213200" y="879950"/>
            <a:ext cx="1979700" cy="588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800">
                <a:solidFill>
                  <a:schemeClr val="dk1"/>
                </a:solidFill>
              </a:rPr>
              <a:t>Administración</a:t>
            </a:r>
            <a:r>
              <a:rPr lang="es-ES" sz="1800">
                <a:solidFill>
                  <a:schemeClr val="dk1"/>
                </a:solidFill>
              </a:rPr>
              <a:t> y finanzas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6219600" y="1337825"/>
            <a:ext cx="2317200" cy="445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800">
                <a:solidFill>
                  <a:schemeClr val="dk1"/>
                </a:solidFill>
              </a:rPr>
              <a:t>Técnica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9563500" y="736025"/>
            <a:ext cx="2317200" cy="445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800">
                <a:solidFill>
                  <a:schemeClr val="dk1"/>
                </a:solidFill>
              </a:rPr>
              <a:t>Project Manager 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5968500" y="816150"/>
            <a:ext cx="1828200" cy="457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800">
                <a:solidFill>
                  <a:schemeClr val="dk1"/>
                </a:solidFill>
              </a:rPr>
              <a:t>Logística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5" name="Google Shape;315;p21"/>
          <p:cNvGrpSpPr/>
          <p:nvPr/>
        </p:nvGrpSpPr>
        <p:grpSpPr>
          <a:xfrm>
            <a:off x="4769942" y="2570119"/>
            <a:ext cx="3727724" cy="1177951"/>
            <a:chOff x="1" y="0"/>
            <a:chExt cx="3216573" cy="1160834"/>
          </a:xfrm>
        </p:grpSpPr>
        <p:sp>
          <p:nvSpPr>
            <p:cNvPr id="316" name="Google Shape;316;p21"/>
            <p:cNvSpPr txBox="1"/>
            <p:nvPr/>
          </p:nvSpPr>
          <p:spPr>
            <a:xfrm rot="-5400000">
              <a:off x="2314235" y="258279"/>
              <a:ext cx="1160618" cy="64406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Actitud alegre y predispuesta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21"/>
            <p:cNvSpPr txBox="1"/>
            <p:nvPr/>
          </p:nvSpPr>
          <p:spPr>
            <a:xfrm rot="-5400000">
              <a:off x="1671001" y="258280"/>
              <a:ext cx="1160618" cy="64406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 Iniciativas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21"/>
            <p:cNvSpPr txBox="1"/>
            <p:nvPr/>
          </p:nvSpPr>
          <p:spPr>
            <a:xfrm rot="-5400000">
              <a:off x="1027768" y="258280"/>
              <a:ext cx="1160618" cy="64406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Sinergia con el equipo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21"/>
            <p:cNvSpPr txBox="1"/>
            <p:nvPr/>
          </p:nvSpPr>
          <p:spPr>
            <a:xfrm rot="-5400000">
              <a:off x="384783" y="258583"/>
              <a:ext cx="1160700" cy="6438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Autonomía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21"/>
            <p:cNvSpPr txBox="1"/>
            <p:nvPr/>
          </p:nvSpPr>
          <p:spPr>
            <a:xfrm rot="-5400000">
              <a:off x="-258381" y="258597"/>
              <a:ext cx="1160618" cy="64385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Responsabilidad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21"/>
          <p:cNvGrpSpPr/>
          <p:nvPr/>
        </p:nvGrpSpPr>
        <p:grpSpPr>
          <a:xfrm>
            <a:off x="2764861" y="3756856"/>
            <a:ext cx="7341489" cy="321966"/>
            <a:chOff x="0" y="0"/>
            <a:chExt cx="6330702" cy="283210"/>
          </a:xfrm>
        </p:grpSpPr>
        <p:sp>
          <p:nvSpPr>
            <p:cNvPr id="322" name="Google Shape;322;p21"/>
            <p:cNvSpPr txBox="1"/>
            <p:nvPr/>
          </p:nvSpPr>
          <p:spPr>
            <a:xfrm>
              <a:off x="0" y="0"/>
              <a:ext cx="1670685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</a:t>
              </a: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Colo (35/10 meses en NE)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AutoNum type="arabicPeriod"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21"/>
            <p:cNvSpPr txBox="1"/>
            <p:nvPr/>
          </p:nvSpPr>
          <p:spPr>
            <a:xfrm>
              <a:off x="1734207" y="0"/>
              <a:ext cx="642578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21"/>
            <p:cNvSpPr txBox="1"/>
            <p:nvPr/>
          </p:nvSpPr>
          <p:spPr>
            <a:xfrm>
              <a:off x="2377441" y="0"/>
              <a:ext cx="638950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1"/>
            <p:cNvSpPr txBox="1"/>
            <p:nvPr/>
          </p:nvSpPr>
          <p:spPr>
            <a:xfrm>
              <a:off x="3022694" y="0"/>
              <a:ext cx="639923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21"/>
            <p:cNvSpPr txBox="1"/>
            <p:nvPr/>
          </p:nvSpPr>
          <p:spPr>
            <a:xfrm>
              <a:off x="3663907" y="0"/>
              <a:ext cx="641219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1"/>
            <p:cNvSpPr txBox="1"/>
            <p:nvPr/>
          </p:nvSpPr>
          <p:spPr>
            <a:xfrm>
              <a:off x="4305126" y="0"/>
              <a:ext cx="648890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21"/>
            <p:cNvSpPr txBox="1"/>
            <p:nvPr/>
          </p:nvSpPr>
          <p:spPr>
            <a:xfrm>
              <a:off x="4988210" y="0"/>
              <a:ext cx="447011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 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21"/>
            <p:cNvSpPr txBox="1"/>
            <p:nvPr/>
          </p:nvSpPr>
          <p:spPr>
            <a:xfrm>
              <a:off x="5435951" y="0"/>
              <a:ext cx="447011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1"/>
            <p:cNvSpPr txBox="1"/>
            <p:nvPr/>
          </p:nvSpPr>
          <p:spPr>
            <a:xfrm>
              <a:off x="5883691" y="0"/>
              <a:ext cx="447011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1" name="Google Shape;331;p21"/>
          <p:cNvGrpSpPr/>
          <p:nvPr/>
        </p:nvGrpSpPr>
        <p:grpSpPr>
          <a:xfrm>
            <a:off x="2764862" y="4006059"/>
            <a:ext cx="7341489" cy="275754"/>
            <a:chOff x="0" y="-44"/>
            <a:chExt cx="6330702" cy="283254"/>
          </a:xfrm>
        </p:grpSpPr>
        <p:sp>
          <p:nvSpPr>
            <p:cNvPr id="332" name="Google Shape;332;p21"/>
            <p:cNvSpPr txBox="1"/>
            <p:nvPr/>
          </p:nvSpPr>
          <p:spPr>
            <a:xfrm>
              <a:off x="0" y="0"/>
              <a:ext cx="1670685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</a:t>
              </a: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Ani</a:t>
              </a: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(43/3 años c NE)</a:t>
              </a:r>
              <a:endParaRPr/>
            </a:p>
          </p:txBody>
        </p:sp>
        <p:sp>
          <p:nvSpPr>
            <p:cNvPr id="333" name="Google Shape;333;p21"/>
            <p:cNvSpPr txBox="1"/>
            <p:nvPr/>
          </p:nvSpPr>
          <p:spPr>
            <a:xfrm>
              <a:off x="1734207" y="0"/>
              <a:ext cx="641943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21"/>
            <p:cNvSpPr txBox="1"/>
            <p:nvPr/>
          </p:nvSpPr>
          <p:spPr>
            <a:xfrm>
              <a:off x="2377440" y="0"/>
              <a:ext cx="650538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+/-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21"/>
            <p:cNvSpPr txBox="1"/>
            <p:nvPr/>
          </p:nvSpPr>
          <p:spPr>
            <a:xfrm>
              <a:off x="3027979" y="0"/>
              <a:ext cx="634637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21"/>
            <p:cNvSpPr txBox="1"/>
            <p:nvPr/>
          </p:nvSpPr>
          <p:spPr>
            <a:xfrm>
              <a:off x="3663906" y="0"/>
              <a:ext cx="651251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21"/>
            <p:cNvSpPr txBox="1"/>
            <p:nvPr/>
          </p:nvSpPr>
          <p:spPr>
            <a:xfrm>
              <a:off x="4310141" y="-44"/>
              <a:ext cx="644646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21"/>
            <p:cNvSpPr txBox="1"/>
            <p:nvPr/>
          </p:nvSpPr>
          <p:spPr>
            <a:xfrm>
              <a:off x="4988210" y="0"/>
              <a:ext cx="447011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+/-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21"/>
            <p:cNvSpPr txBox="1"/>
            <p:nvPr/>
          </p:nvSpPr>
          <p:spPr>
            <a:xfrm>
              <a:off x="5435951" y="0"/>
              <a:ext cx="447011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21"/>
            <p:cNvSpPr txBox="1"/>
            <p:nvPr/>
          </p:nvSpPr>
          <p:spPr>
            <a:xfrm>
              <a:off x="5883691" y="0"/>
              <a:ext cx="447011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+/-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1" name="Google Shape;341;p21"/>
          <p:cNvGrpSpPr/>
          <p:nvPr/>
        </p:nvGrpSpPr>
        <p:grpSpPr>
          <a:xfrm>
            <a:off x="2764863" y="4534527"/>
            <a:ext cx="7341488" cy="263952"/>
            <a:chOff x="0" y="0"/>
            <a:chExt cx="6324392" cy="283210"/>
          </a:xfrm>
        </p:grpSpPr>
        <p:sp>
          <p:nvSpPr>
            <p:cNvPr id="342" name="Google Shape;342;p21"/>
            <p:cNvSpPr txBox="1"/>
            <p:nvPr/>
          </p:nvSpPr>
          <p:spPr>
            <a:xfrm>
              <a:off x="0" y="0"/>
              <a:ext cx="1670685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  </a:t>
              </a: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Gabriel (33/ 1 año c NE)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1"/>
            <p:cNvSpPr txBox="1"/>
            <p:nvPr/>
          </p:nvSpPr>
          <p:spPr>
            <a:xfrm>
              <a:off x="1734207" y="0"/>
              <a:ext cx="641938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1"/>
            <p:cNvSpPr txBox="1"/>
            <p:nvPr/>
          </p:nvSpPr>
          <p:spPr>
            <a:xfrm>
              <a:off x="2373602" y="0"/>
              <a:ext cx="645776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21"/>
            <p:cNvSpPr txBox="1"/>
            <p:nvPr/>
          </p:nvSpPr>
          <p:spPr>
            <a:xfrm>
              <a:off x="3020674" y="0"/>
              <a:ext cx="641938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21"/>
            <p:cNvSpPr txBox="1"/>
            <p:nvPr/>
          </p:nvSpPr>
          <p:spPr>
            <a:xfrm>
              <a:off x="3663907" y="0"/>
              <a:ext cx="641938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21"/>
            <p:cNvSpPr txBox="1"/>
            <p:nvPr/>
          </p:nvSpPr>
          <p:spPr>
            <a:xfrm>
              <a:off x="4300834" y="0"/>
              <a:ext cx="649015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21"/>
            <p:cNvSpPr txBox="1"/>
            <p:nvPr/>
          </p:nvSpPr>
          <p:spPr>
            <a:xfrm>
              <a:off x="4981904" y="0"/>
              <a:ext cx="447007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21"/>
            <p:cNvSpPr txBox="1"/>
            <p:nvPr/>
          </p:nvSpPr>
          <p:spPr>
            <a:xfrm>
              <a:off x="5429645" y="0"/>
              <a:ext cx="447007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21"/>
            <p:cNvSpPr txBox="1"/>
            <p:nvPr/>
          </p:nvSpPr>
          <p:spPr>
            <a:xfrm>
              <a:off x="5877385" y="0"/>
              <a:ext cx="447007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1" name="Google Shape;351;p21"/>
          <p:cNvGrpSpPr/>
          <p:nvPr/>
        </p:nvGrpSpPr>
        <p:grpSpPr>
          <a:xfrm>
            <a:off x="2764863" y="4798479"/>
            <a:ext cx="7341488" cy="223101"/>
            <a:chOff x="0" y="0"/>
            <a:chExt cx="6324392" cy="283210"/>
          </a:xfrm>
        </p:grpSpPr>
        <p:sp>
          <p:nvSpPr>
            <p:cNvPr id="352" name="Google Shape;352;p21"/>
            <p:cNvSpPr txBox="1"/>
            <p:nvPr/>
          </p:nvSpPr>
          <p:spPr>
            <a:xfrm>
              <a:off x="0" y="0"/>
              <a:ext cx="1670685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5. Felipe (28/ 2 meses c NE)</a:t>
              </a:r>
              <a:endParaRPr/>
            </a:p>
          </p:txBody>
        </p:sp>
        <p:sp>
          <p:nvSpPr>
            <p:cNvPr id="353" name="Google Shape;353;p21"/>
            <p:cNvSpPr txBox="1"/>
            <p:nvPr/>
          </p:nvSpPr>
          <p:spPr>
            <a:xfrm>
              <a:off x="1734207" y="0"/>
              <a:ext cx="642398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1"/>
            <p:cNvSpPr txBox="1"/>
            <p:nvPr/>
          </p:nvSpPr>
          <p:spPr>
            <a:xfrm>
              <a:off x="2375070" y="0"/>
              <a:ext cx="644309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21"/>
            <p:cNvSpPr txBox="1"/>
            <p:nvPr/>
          </p:nvSpPr>
          <p:spPr>
            <a:xfrm>
              <a:off x="3020674" y="0"/>
              <a:ext cx="641938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21"/>
            <p:cNvSpPr txBox="1"/>
            <p:nvPr/>
          </p:nvSpPr>
          <p:spPr>
            <a:xfrm>
              <a:off x="3663908" y="0"/>
              <a:ext cx="631667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21"/>
            <p:cNvSpPr txBox="1"/>
            <p:nvPr/>
          </p:nvSpPr>
          <p:spPr>
            <a:xfrm>
              <a:off x="4301294" y="0"/>
              <a:ext cx="647784" cy="282575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21"/>
            <p:cNvSpPr txBox="1"/>
            <p:nvPr/>
          </p:nvSpPr>
          <p:spPr>
            <a:xfrm>
              <a:off x="4981904" y="0"/>
              <a:ext cx="447007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21"/>
            <p:cNvSpPr txBox="1"/>
            <p:nvPr/>
          </p:nvSpPr>
          <p:spPr>
            <a:xfrm>
              <a:off x="5429645" y="0"/>
              <a:ext cx="447007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 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1"/>
            <p:cNvSpPr txBox="1"/>
            <p:nvPr/>
          </p:nvSpPr>
          <p:spPr>
            <a:xfrm>
              <a:off x="5877385" y="0"/>
              <a:ext cx="447007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1" name="Google Shape;361;p21"/>
          <p:cNvGrpSpPr/>
          <p:nvPr/>
        </p:nvGrpSpPr>
        <p:grpSpPr>
          <a:xfrm>
            <a:off x="4051125" y="5104425"/>
            <a:ext cx="1437560" cy="1350507"/>
            <a:chOff x="0" y="0"/>
            <a:chExt cx="1633220" cy="1503570"/>
          </a:xfrm>
        </p:grpSpPr>
        <p:sp>
          <p:nvSpPr>
            <p:cNvPr id="362" name="Google Shape;362;p21"/>
            <p:cNvSpPr txBox="1"/>
            <p:nvPr/>
          </p:nvSpPr>
          <p:spPr>
            <a:xfrm>
              <a:off x="0" y="321616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info gestion/ finan.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21"/>
            <p:cNvSpPr txBox="1"/>
            <p:nvPr/>
          </p:nvSpPr>
          <p:spPr>
            <a:xfrm>
              <a:off x="0" y="0"/>
              <a:ext cx="1633200" cy="2832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 Gte oper .PM1</a:t>
              </a:r>
              <a:endParaRPr/>
            </a:p>
          </p:txBody>
        </p:sp>
        <p:sp>
          <p:nvSpPr>
            <p:cNvPr id="364" name="Google Shape;364;p21"/>
            <p:cNvSpPr txBox="1"/>
            <p:nvPr/>
          </p:nvSpPr>
          <p:spPr>
            <a:xfrm>
              <a:off x="0" y="605396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compra</a:t>
              </a: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/proveed.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21"/>
            <p:cNvSpPr txBox="1"/>
            <p:nvPr/>
          </p:nvSpPr>
          <p:spPr>
            <a:xfrm>
              <a:off x="0" y="889191"/>
              <a:ext cx="1633200" cy="3069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gerenciar a jefe tec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21"/>
            <p:cNvSpPr txBox="1"/>
            <p:nvPr/>
          </p:nvSpPr>
          <p:spPr>
            <a:xfrm>
              <a:off x="0" y="1196670"/>
              <a:ext cx="1633200" cy="3069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gerenciar jf admin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7" name="Google Shape;367;p21"/>
          <p:cNvGrpSpPr/>
          <p:nvPr/>
        </p:nvGrpSpPr>
        <p:grpSpPr>
          <a:xfrm>
            <a:off x="6996225" y="5102308"/>
            <a:ext cx="1437646" cy="1615580"/>
            <a:chOff x="-7" y="0"/>
            <a:chExt cx="1633227" cy="1748913"/>
          </a:xfrm>
        </p:grpSpPr>
        <p:sp>
          <p:nvSpPr>
            <p:cNvPr id="368" name="Google Shape;368;p21"/>
            <p:cNvSpPr txBox="1"/>
            <p:nvPr/>
          </p:nvSpPr>
          <p:spPr>
            <a:xfrm>
              <a:off x="0" y="321616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Gestión</a:t>
              </a: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bancos/caja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21"/>
            <p:cNvSpPr txBox="1"/>
            <p:nvPr/>
          </p:nvSpPr>
          <p:spPr>
            <a:xfrm>
              <a:off x="0" y="0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 jefe de Admin </a:t>
              </a:r>
              <a:endParaRPr/>
            </a:p>
          </p:txBody>
        </p:sp>
        <p:sp>
          <p:nvSpPr>
            <p:cNvPr id="370" name="Google Shape;370;p21"/>
            <p:cNvSpPr txBox="1"/>
            <p:nvPr/>
          </p:nvSpPr>
          <p:spPr>
            <a:xfrm>
              <a:off x="0" y="605396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Pagar proveedores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21"/>
            <p:cNvSpPr txBox="1"/>
            <p:nvPr/>
          </p:nvSpPr>
          <p:spPr>
            <a:xfrm>
              <a:off x="0" y="889175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Cobrar a clientes 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21"/>
            <p:cNvSpPr txBox="1"/>
            <p:nvPr/>
          </p:nvSpPr>
          <p:spPr>
            <a:xfrm>
              <a:off x="0" y="1172954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Sueldos (con CPN)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21"/>
            <p:cNvSpPr txBox="1"/>
            <p:nvPr/>
          </p:nvSpPr>
          <p:spPr>
            <a:xfrm>
              <a:off x="-7" y="1450413"/>
              <a:ext cx="1633200" cy="2985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gestión</a:t>
              </a: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XUBIO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4" name="Google Shape;374;p21"/>
          <p:cNvGrpSpPr/>
          <p:nvPr/>
        </p:nvGrpSpPr>
        <p:grpSpPr>
          <a:xfrm>
            <a:off x="8469391" y="5102307"/>
            <a:ext cx="1329055" cy="1601469"/>
            <a:chOff x="0" y="7780"/>
            <a:chExt cx="1633220" cy="1725857"/>
          </a:xfrm>
        </p:grpSpPr>
        <p:sp>
          <p:nvSpPr>
            <p:cNvPr id="375" name="Google Shape;375;p21"/>
            <p:cNvSpPr txBox="1"/>
            <p:nvPr/>
          </p:nvSpPr>
          <p:spPr>
            <a:xfrm>
              <a:off x="11" y="321638"/>
              <a:ext cx="1633200" cy="6072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cumplir obj de calidad en instal.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21"/>
            <p:cNvSpPr txBox="1"/>
            <p:nvPr/>
          </p:nvSpPr>
          <p:spPr>
            <a:xfrm>
              <a:off x="0" y="7780"/>
              <a:ext cx="1633220" cy="275429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 Jefe. Tecnico</a:t>
              </a:r>
              <a:endParaRPr/>
            </a:p>
          </p:txBody>
        </p:sp>
        <p:sp>
          <p:nvSpPr>
            <p:cNvPr id="377" name="Google Shape;377;p21"/>
            <p:cNvSpPr txBox="1"/>
            <p:nvPr/>
          </p:nvSpPr>
          <p:spPr>
            <a:xfrm>
              <a:off x="0" y="889175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gest. contratistas 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21"/>
            <p:cNvSpPr txBox="1"/>
            <p:nvPr/>
          </p:nvSpPr>
          <p:spPr>
            <a:xfrm>
              <a:off x="0" y="1172954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gest. operarios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21"/>
            <p:cNvSpPr txBox="1"/>
            <p:nvPr/>
          </p:nvSpPr>
          <p:spPr>
            <a:xfrm>
              <a:off x="0" y="1450427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tratar c/clientes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0" name="Google Shape;380;p21"/>
          <p:cNvGrpSpPr/>
          <p:nvPr/>
        </p:nvGrpSpPr>
        <p:grpSpPr>
          <a:xfrm>
            <a:off x="9834098" y="5104425"/>
            <a:ext cx="1042648" cy="1599288"/>
            <a:chOff x="0" y="13788"/>
            <a:chExt cx="1633220" cy="1719849"/>
          </a:xfrm>
        </p:grpSpPr>
        <p:sp>
          <p:nvSpPr>
            <p:cNvPr id="381" name="Google Shape;381;p21"/>
            <p:cNvSpPr txBox="1"/>
            <p:nvPr/>
          </p:nvSpPr>
          <p:spPr>
            <a:xfrm>
              <a:off x="0" y="321616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gestión</a:t>
              </a: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del depos.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21"/>
            <p:cNvSpPr txBox="1"/>
            <p:nvPr/>
          </p:nvSpPr>
          <p:spPr>
            <a:xfrm>
              <a:off x="0" y="13788"/>
              <a:ext cx="1633220" cy="269421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5. auxiliar</a:t>
              </a:r>
              <a:endParaRPr/>
            </a:p>
          </p:txBody>
        </p:sp>
        <p:sp>
          <p:nvSpPr>
            <p:cNvPr id="383" name="Google Shape;383;p21"/>
            <p:cNvSpPr txBox="1"/>
            <p:nvPr/>
          </p:nvSpPr>
          <p:spPr>
            <a:xfrm>
              <a:off x="0" y="605396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Stock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21"/>
            <p:cNvSpPr txBox="1"/>
            <p:nvPr/>
          </p:nvSpPr>
          <p:spPr>
            <a:xfrm>
              <a:off x="0" y="889175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aux. admin admin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21"/>
            <p:cNvSpPr txBox="1"/>
            <p:nvPr/>
          </p:nvSpPr>
          <p:spPr>
            <a:xfrm>
              <a:off x="0" y="1172954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aux de mkt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1"/>
            <p:cNvSpPr txBox="1"/>
            <p:nvPr/>
          </p:nvSpPr>
          <p:spPr>
            <a:xfrm>
              <a:off x="0" y="1450427"/>
              <a:ext cx="1633220" cy="28321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7" name="Google Shape;387;p21"/>
          <p:cNvSpPr txBox="1"/>
          <p:nvPr/>
        </p:nvSpPr>
        <p:spPr>
          <a:xfrm rot="183776">
            <a:off x="10261054" y="2470353"/>
            <a:ext cx="1729270" cy="459643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>
                <a:solidFill>
                  <a:schemeClr val="dk1"/>
                </a:solidFill>
              </a:rPr>
              <a:t>Generar Oportunidades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10220500" y="3093050"/>
            <a:ext cx="1764300" cy="551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>
                <a:solidFill>
                  <a:schemeClr val="dk1"/>
                </a:solidFill>
              </a:rPr>
              <a:t>Relaciones valiosas c/clientes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 rot="-226969">
            <a:off x="10297796" y="3871784"/>
            <a:ext cx="1609707" cy="336733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>
                <a:solidFill>
                  <a:schemeClr val="dk1"/>
                </a:solidFill>
              </a:rPr>
              <a:t>construir prestigio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0" name="Google Shape;390;p21"/>
          <p:cNvGrpSpPr/>
          <p:nvPr/>
        </p:nvGrpSpPr>
        <p:grpSpPr>
          <a:xfrm>
            <a:off x="2764863" y="4277561"/>
            <a:ext cx="7341346" cy="265217"/>
            <a:chOff x="0" y="0"/>
            <a:chExt cx="6324385" cy="283200"/>
          </a:xfrm>
        </p:grpSpPr>
        <p:sp>
          <p:nvSpPr>
            <p:cNvPr id="391" name="Google Shape;391;p21"/>
            <p:cNvSpPr txBox="1"/>
            <p:nvPr/>
          </p:nvSpPr>
          <p:spPr>
            <a:xfrm>
              <a:off x="0" y="0"/>
              <a:ext cx="1670700" cy="2826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 Marcia (35/6 años c NE)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21"/>
            <p:cNvSpPr txBox="1"/>
            <p:nvPr/>
          </p:nvSpPr>
          <p:spPr>
            <a:xfrm>
              <a:off x="1734207" y="0"/>
              <a:ext cx="642000" cy="2826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21"/>
            <p:cNvSpPr txBox="1"/>
            <p:nvPr/>
          </p:nvSpPr>
          <p:spPr>
            <a:xfrm>
              <a:off x="2374336" y="0"/>
              <a:ext cx="645000" cy="2826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21"/>
            <p:cNvSpPr txBox="1"/>
            <p:nvPr/>
          </p:nvSpPr>
          <p:spPr>
            <a:xfrm>
              <a:off x="3020674" y="0"/>
              <a:ext cx="642000" cy="2826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21"/>
            <p:cNvSpPr txBox="1"/>
            <p:nvPr/>
          </p:nvSpPr>
          <p:spPr>
            <a:xfrm>
              <a:off x="3658961" y="0"/>
              <a:ext cx="646800" cy="2775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21"/>
            <p:cNvSpPr txBox="1"/>
            <p:nvPr/>
          </p:nvSpPr>
          <p:spPr>
            <a:xfrm>
              <a:off x="4300834" y="0"/>
              <a:ext cx="648900" cy="2826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21"/>
            <p:cNvSpPr txBox="1"/>
            <p:nvPr/>
          </p:nvSpPr>
          <p:spPr>
            <a:xfrm>
              <a:off x="4981904" y="0"/>
              <a:ext cx="447000" cy="2832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21"/>
            <p:cNvSpPr txBox="1"/>
            <p:nvPr/>
          </p:nvSpPr>
          <p:spPr>
            <a:xfrm>
              <a:off x="5429645" y="0"/>
              <a:ext cx="447000" cy="2832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++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21"/>
            <p:cNvSpPr txBox="1"/>
            <p:nvPr/>
          </p:nvSpPr>
          <p:spPr>
            <a:xfrm>
              <a:off x="5877385" y="0"/>
              <a:ext cx="447000" cy="2832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+/-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0" name="Google Shape;400;p21"/>
          <p:cNvSpPr txBox="1"/>
          <p:nvPr/>
        </p:nvSpPr>
        <p:spPr>
          <a:xfrm rot="-308226">
            <a:off x="638608" y="2613044"/>
            <a:ext cx="1601533" cy="337363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(99%)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1"/>
          <p:cNvSpPr/>
          <p:nvPr/>
        </p:nvSpPr>
        <p:spPr>
          <a:xfrm>
            <a:off x="0" y="-82163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1"/>
          <p:cNvSpPr/>
          <p:nvPr/>
        </p:nvSpPr>
        <p:spPr>
          <a:xfrm>
            <a:off x="0" y="-364434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1"/>
          <p:cNvSpPr txBox="1"/>
          <p:nvPr/>
        </p:nvSpPr>
        <p:spPr>
          <a:xfrm rot="178743">
            <a:off x="520313" y="565101"/>
            <a:ext cx="1633608" cy="368301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 sz="2000">
                <a:solidFill>
                  <a:schemeClr val="dk1"/>
                </a:solidFill>
              </a:rPr>
              <a:t>AI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1"/>
          <p:cNvSpPr txBox="1"/>
          <p:nvPr/>
        </p:nvSpPr>
        <p:spPr>
          <a:xfrm rot="-308226">
            <a:off x="567129" y="3243158"/>
            <a:ext cx="1601533" cy="30363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AJI (1%)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1"/>
          <p:cNvSpPr txBox="1"/>
          <p:nvPr/>
        </p:nvSpPr>
        <p:spPr>
          <a:xfrm rot="-284403">
            <a:off x="551056" y="6263269"/>
            <a:ext cx="1633687" cy="37358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 sz="2000">
                <a:solidFill>
                  <a:schemeClr val="dk1"/>
                </a:solidFill>
              </a:rPr>
              <a:t>AI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1"/>
          <p:cNvSpPr txBox="1"/>
          <p:nvPr/>
        </p:nvSpPr>
        <p:spPr>
          <a:xfrm>
            <a:off x="9465725" y="1347755"/>
            <a:ext cx="2317200" cy="445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800">
                <a:solidFill>
                  <a:schemeClr val="dk1"/>
                </a:solidFill>
              </a:rPr>
              <a:t>Project Manager 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7" name="Google Shape;407;p21"/>
          <p:cNvGrpSpPr/>
          <p:nvPr/>
        </p:nvGrpSpPr>
        <p:grpSpPr>
          <a:xfrm>
            <a:off x="5523675" y="5104375"/>
            <a:ext cx="1437547" cy="1626134"/>
            <a:chOff x="0" y="0"/>
            <a:chExt cx="1633205" cy="1856529"/>
          </a:xfrm>
        </p:grpSpPr>
        <p:sp>
          <p:nvSpPr>
            <p:cNvPr id="408" name="Google Shape;408;p21"/>
            <p:cNvSpPr txBox="1"/>
            <p:nvPr/>
          </p:nvSpPr>
          <p:spPr>
            <a:xfrm>
              <a:off x="0" y="321616"/>
              <a:ext cx="1633200" cy="2832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Generar Leads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21"/>
            <p:cNvSpPr txBox="1"/>
            <p:nvPr/>
          </p:nvSpPr>
          <p:spPr>
            <a:xfrm>
              <a:off x="0" y="0"/>
              <a:ext cx="1633200" cy="2832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 PM 2</a:t>
              </a:r>
              <a:endParaRPr/>
            </a:p>
          </p:txBody>
        </p:sp>
        <p:sp>
          <p:nvSpPr>
            <p:cNvPr id="410" name="Google Shape;410;p21"/>
            <p:cNvSpPr txBox="1"/>
            <p:nvPr/>
          </p:nvSpPr>
          <p:spPr>
            <a:xfrm>
              <a:off x="0" y="605396"/>
              <a:ext cx="1633200" cy="2832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Tratar con el cliente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21"/>
            <p:cNvSpPr txBox="1"/>
            <p:nvPr/>
          </p:nvSpPr>
          <p:spPr>
            <a:xfrm>
              <a:off x="5" y="889180"/>
              <a:ext cx="1633200" cy="4812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gerenciar c/proy. ganado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21"/>
            <p:cNvSpPr txBox="1"/>
            <p:nvPr/>
          </p:nvSpPr>
          <p:spPr>
            <a:xfrm>
              <a:off x="0" y="1375329"/>
              <a:ext cx="1633200" cy="4812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Lograr objetivos de venta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3" name="Google Shape;413;p21"/>
          <p:cNvSpPr txBox="1"/>
          <p:nvPr/>
        </p:nvSpPr>
        <p:spPr>
          <a:xfrm>
            <a:off x="4051075" y="6454924"/>
            <a:ext cx="1437600" cy="275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Presupuest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5" cy="6553201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2"/>
          <p:cNvSpPr/>
          <p:nvPr/>
        </p:nvSpPr>
        <p:spPr>
          <a:xfrm>
            <a:off x="1847075" y="3191375"/>
            <a:ext cx="930300" cy="52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Gaby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2"/>
          <p:cNvSpPr/>
          <p:nvPr/>
        </p:nvSpPr>
        <p:spPr>
          <a:xfrm>
            <a:off x="3279650" y="2749275"/>
            <a:ext cx="594300" cy="381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Ani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4331200" y="2833175"/>
            <a:ext cx="868800" cy="381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Marcia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7303025" y="2855975"/>
            <a:ext cx="594300" cy="335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Aldi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8247875" y="3261300"/>
            <a:ext cx="670800" cy="335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Maxi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9208250" y="3465575"/>
            <a:ext cx="670800" cy="381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Colo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5" name="Google Shape;42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125" y="320050"/>
            <a:ext cx="1537525" cy="88867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2"/>
          <p:cNvSpPr/>
          <p:nvPr/>
        </p:nvSpPr>
        <p:spPr>
          <a:xfrm>
            <a:off x="7965300" y="1973025"/>
            <a:ext cx="1537500" cy="13791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" name="Google Shape;431;p23"/>
          <p:cNvGrpSpPr/>
          <p:nvPr/>
        </p:nvGrpSpPr>
        <p:grpSpPr>
          <a:xfrm>
            <a:off x="223024" y="162875"/>
            <a:ext cx="11745956" cy="6532259"/>
            <a:chOff x="0" y="0"/>
            <a:chExt cx="10208549" cy="7108781"/>
          </a:xfrm>
        </p:grpSpPr>
        <p:sp>
          <p:nvSpPr>
            <p:cNvPr id="432" name="Google Shape;432;p23"/>
            <p:cNvSpPr txBox="1"/>
            <p:nvPr/>
          </p:nvSpPr>
          <p:spPr>
            <a:xfrm>
              <a:off x="4934138" y="4182701"/>
              <a:ext cx="5256530" cy="134937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33" name="Google Shape;433;p23"/>
            <p:cNvSpPr txBox="1"/>
            <p:nvPr/>
          </p:nvSpPr>
          <p:spPr>
            <a:xfrm>
              <a:off x="4128380" y="0"/>
              <a:ext cx="2095500" cy="390354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34" name="Google Shape;434;p23"/>
            <p:cNvSpPr txBox="1"/>
            <p:nvPr/>
          </p:nvSpPr>
          <p:spPr>
            <a:xfrm>
              <a:off x="4128380" y="0"/>
              <a:ext cx="2095500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PROCESOS CLAVE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23"/>
            <p:cNvSpPr txBox="1"/>
            <p:nvPr/>
          </p:nvSpPr>
          <p:spPr>
            <a:xfrm>
              <a:off x="0" y="0"/>
              <a:ext cx="4123690" cy="3903541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36" name="Google Shape;436;p23"/>
            <p:cNvSpPr txBox="1"/>
            <p:nvPr/>
          </p:nvSpPr>
          <p:spPr>
            <a:xfrm>
              <a:off x="0" y="0"/>
              <a:ext cx="4123800" cy="28320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DATOS GENERALES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23"/>
            <p:cNvSpPr txBox="1"/>
            <p:nvPr/>
          </p:nvSpPr>
          <p:spPr>
            <a:xfrm>
              <a:off x="6210677" y="0"/>
              <a:ext cx="3997872" cy="390354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38" name="Google Shape;438;p23"/>
            <p:cNvSpPr txBox="1"/>
            <p:nvPr/>
          </p:nvSpPr>
          <p:spPr>
            <a:xfrm>
              <a:off x="6210677" y="0"/>
              <a:ext cx="3997872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PULSO DEL NEGOCIO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23"/>
            <p:cNvSpPr txBox="1"/>
            <p:nvPr/>
          </p:nvSpPr>
          <p:spPr>
            <a:xfrm>
              <a:off x="4934138" y="5812325"/>
              <a:ext cx="5256530" cy="129603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40" name="Google Shape;440;p23"/>
            <p:cNvSpPr txBox="1"/>
            <p:nvPr/>
          </p:nvSpPr>
          <p:spPr>
            <a:xfrm>
              <a:off x="4934138" y="3902044"/>
              <a:ext cx="5269865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PRINCIPALES DESAFÍOS PROFESIONALES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23"/>
            <p:cNvSpPr txBox="1"/>
            <p:nvPr/>
          </p:nvSpPr>
          <p:spPr>
            <a:xfrm>
              <a:off x="4934138" y="5531668"/>
              <a:ext cx="5256530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OBJETIVOS PERSONALES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23"/>
            <p:cNvSpPr txBox="1"/>
            <p:nvPr/>
          </p:nvSpPr>
          <p:spPr>
            <a:xfrm>
              <a:off x="0" y="4182701"/>
              <a:ext cx="2557780" cy="292608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43" name="Google Shape;443;p23"/>
            <p:cNvSpPr txBox="1"/>
            <p:nvPr/>
          </p:nvSpPr>
          <p:spPr>
            <a:xfrm>
              <a:off x="0" y="3902044"/>
              <a:ext cx="2557780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IDEAS/PROYECTOS/INVERSIONES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23"/>
            <p:cNvSpPr txBox="1"/>
            <p:nvPr/>
          </p:nvSpPr>
          <p:spPr>
            <a:xfrm>
              <a:off x="2562130" y="4182701"/>
              <a:ext cx="2373682" cy="292608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45" name="Google Shape;445;p23"/>
            <p:cNvSpPr txBox="1"/>
            <p:nvPr/>
          </p:nvSpPr>
          <p:spPr>
            <a:xfrm>
              <a:off x="2562130" y="3902044"/>
              <a:ext cx="2373682" cy="283210"/>
            </a:xfrm>
            <a:prstGeom prst="rect">
              <a:avLst/>
            </a:prstGeom>
            <a:solidFill>
              <a:srgbClr val="D5DB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TUS 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HABILIDADES</a:t>
              </a:r>
              <a:r>
                <a:rPr b="1"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ÚNICAS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6" name="Google Shape;446;p23"/>
          <p:cNvSpPr txBox="1"/>
          <p:nvPr/>
        </p:nvSpPr>
        <p:spPr>
          <a:xfrm rot="178664">
            <a:off x="5157069" y="600125"/>
            <a:ext cx="2113654" cy="5855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800">
                <a:solidFill>
                  <a:schemeClr val="dk1"/>
                </a:solidFill>
              </a:rPr>
              <a:t>Entregas/Obras/ Instalaciones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3"/>
          <p:cNvSpPr txBox="1"/>
          <p:nvPr/>
        </p:nvSpPr>
        <p:spPr>
          <a:xfrm rot="220558">
            <a:off x="5229733" y="1999856"/>
            <a:ext cx="1614321" cy="40703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800">
                <a:solidFill>
                  <a:schemeClr val="dk1"/>
                </a:solidFill>
              </a:rPr>
              <a:t>Ventas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48" name="Google Shape;448;p23"/>
          <p:cNvSpPr txBox="1"/>
          <p:nvPr/>
        </p:nvSpPr>
        <p:spPr>
          <a:xfrm>
            <a:off x="5064350" y="1293875"/>
            <a:ext cx="2141400" cy="600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800">
                <a:solidFill>
                  <a:schemeClr val="dk1"/>
                </a:solidFill>
              </a:rPr>
              <a:t>Entregas/fin  de obras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3"/>
          <p:cNvSpPr txBox="1"/>
          <p:nvPr/>
        </p:nvSpPr>
        <p:spPr>
          <a:xfrm rot="-348728">
            <a:off x="2481689" y="778408"/>
            <a:ext cx="2358122" cy="63382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Logramos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bien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Xubio como sist. de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en Agosto desde enero 23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3"/>
          <p:cNvSpPr txBox="1"/>
          <p:nvPr/>
        </p:nvSpPr>
        <p:spPr>
          <a:xfrm rot="212594">
            <a:off x="2551908" y="1764983"/>
            <a:ext cx="2169848" cy="876783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la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las inst/obras/entregas nos manejamos con trello (un tablero Kanban)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3"/>
          <p:cNvSpPr txBox="1"/>
          <p:nvPr/>
        </p:nvSpPr>
        <p:spPr>
          <a:xfrm rot="-164363">
            <a:off x="396268" y="1108847"/>
            <a:ext cx="1939616" cy="466129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Tenemos implementado no Crm desde mayo 23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3"/>
          <p:cNvSpPr txBox="1"/>
          <p:nvPr/>
        </p:nvSpPr>
        <p:spPr>
          <a:xfrm rot="-233223">
            <a:off x="296978" y="492673"/>
            <a:ext cx="1942769" cy="582427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Tenemos un </a:t>
            </a: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depósito</a:t>
            </a: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Siria y </a:t>
            </a: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o'higgins</a:t>
            </a: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alquilado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453" name="Google Shape;453;p23"/>
          <p:cNvSpPr txBox="1"/>
          <p:nvPr/>
        </p:nvSpPr>
        <p:spPr>
          <a:xfrm rot="184406">
            <a:off x="2365032" y="2715677"/>
            <a:ext cx="2383629" cy="684395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tenemos implementadas las reuniones semanales EOS con la planilla de datos 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3"/>
          <p:cNvSpPr txBox="1"/>
          <p:nvPr/>
        </p:nvSpPr>
        <p:spPr>
          <a:xfrm rot="151313">
            <a:off x="467722" y="1703714"/>
            <a:ext cx="1731777" cy="48107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Competidores: Ergy, SunGreen</a:t>
            </a:r>
            <a:r>
              <a:rPr lang="es-ES" sz="1800">
                <a:solidFill>
                  <a:schemeClr val="dk1"/>
                </a:solidFill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3"/>
          <p:cNvSpPr txBox="1"/>
          <p:nvPr/>
        </p:nvSpPr>
        <p:spPr>
          <a:xfrm>
            <a:off x="9011474" y="6295100"/>
            <a:ext cx="2518800" cy="3045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hacer un buen viaje con Sofi</a:t>
            </a: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3"/>
          <p:cNvSpPr txBox="1"/>
          <p:nvPr/>
        </p:nvSpPr>
        <p:spPr>
          <a:xfrm>
            <a:off x="6476300" y="6316850"/>
            <a:ext cx="2084700" cy="3045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aprender </a:t>
            </a: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música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3"/>
          <p:cNvSpPr txBox="1"/>
          <p:nvPr/>
        </p:nvSpPr>
        <p:spPr>
          <a:xfrm rot="-152955">
            <a:off x="346162" y="4280314"/>
            <a:ext cx="1288275" cy="601493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Alquiler de Paneles Solares FV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3"/>
          <p:cNvSpPr txBox="1"/>
          <p:nvPr/>
        </p:nvSpPr>
        <p:spPr>
          <a:xfrm rot="-197815">
            <a:off x="421595" y="5053161"/>
            <a:ext cx="1335410" cy="532797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tokenización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energía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solar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3"/>
          <p:cNvSpPr txBox="1"/>
          <p:nvPr/>
        </p:nvSpPr>
        <p:spPr>
          <a:xfrm rot="-194576">
            <a:off x="1794285" y="4286437"/>
            <a:ext cx="1299281" cy="95522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Bio.Block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Modulos habitacionales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autónomos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3"/>
          <p:cNvSpPr txBox="1"/>
          <p:nvPr/>
        </p:nvSpPr>
        <p:spPr>
          <a:xfrm rot="186324">
            <a:off x="6467671" y="5734244"/>
            <a:ext cx="1633220" cy="46609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Terminar mi obra del estudio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3"/>
          <p:cNvSpPr txBox="1"/>
          <p:nvPr/>
        </p:nvSpPr>
        <p:spPr>
          <a:xfrm rot="-188067">
            <a:off x="8753067" y="5739029"/>
            <a:ext cx="2584166" cy="43955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Ubicar bien a mi hija Valen en Bs As que empieza a estudiar.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2" name="Google Shape;462;p23"/>
          <p:cNvGrpSpPr/>
          <p:nvPr/>
        </p:nvGrpSpPr>
        <p:grpSpPr>
          <a:xfrm>
            <a:off x="6101687" y="4120226"/>
            <a:ext cx="5378462" cy="1003898"/>
            <a:chOff x="6101687" y="4120226"/>
            <a:chExt cx="5378462" cy="1003898"/>
          </a:xfrm>
        </p:grpSpPr>
        <p:sp>
          <p:nvSpPr>
            <p:cNvPr id="463" name="Google Shape;463;p23"/>
            <p:cNvSpPr txBox="1"/>
            <p:nvPr/>
          </p:nvSpPr>
          <p:spPr>
            <a:xfrm rot="-317823">
              <a:off x="6169321" y="4564862"/>
              <a:ext cx="2320209" cy="453123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ver si puedo hacer  master ITBA </a:t>
              </a: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Gestión</a:t>
              </a: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eficiente de la </a:t>
              </a: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energía</a:t>
              </a: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23"/>
            <p:cNvSpPr txBox="1"/>
            <p:nvPr/>
          </p:nvSpPr>
          <p:spPr>
            <a:xfrm rot="-202605">
              <a:off x="6107745" y="4189287"/>
              <a:ext cx="2353085" cy="274978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hacer cursos de </a:t>
              </a: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certificación</a:t>
              </a: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EDGE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23"/>
            <p:cNvSpPr txBox="1"/>
            <p:nvPr/>
          </p:nvSpPr>
          <p:spPr>
            <a:xfrm rot="-281684">
              <a:off x="8614404" y="4286634"/>
              <a:ext cx="2858992" cy="280852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0000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Auspiciar diplomatura de EERR en UCASal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6" name="Google Shape;466;p23"/>
          <p:cNvSpPr txBox="1"/>
          <p:nvPr/>
        </p:nvSpPr>
        <p:spPr>
          <a:xfrm rot="-250406">
            <a:off x="3418855" y="4128506"/>
            <a:ext cx="2258990" cy="369986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800">
                <a:solidFill>
                  <a:schemeClr val="dk1"/>
                </a:solidFill>
              </a:rPr>
              <a:t>Comunicar/enseñar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3"/>
          <p:cNvSpPr/>
          <p:nvPr/>
        </p:nvSpPr>
        <p:spPr>
          <a:xfrm>
            <a:off x="0" y="34675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3"/>
          <p:cNvSpPr/>
          <p:nvPr/>
        </p:nvSpPr>
        <p:spPr>
          <a:xfrm>
            <a:off x="0" y="87868"/>
            <a:ext cx="1848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3"/>
          <p:cNvSpPr txBox="1"/>
          <p:nvPr/>
        </p:nvSpPr>
        <p:spPr>
          <a:xfrm rot="184856">
            <a:off x="375371" y="2335070"/>
            <a:ext cx="1908959" cy="66426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Colo está haciendo de ger operativo en estos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últimos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40 días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3"/>
          <p:cNvSpPr txBox="1"/>
          <p:nvPr/>
        </p:nvSpPr>
        <p:spPr>
          <a:xfrm rot="256041">
            <a:off x="3369081" y="4726726"/>
            <a:ext cx="2358539" cy="394397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ES" sz="1800">
                <a:solidFill>
                  <a:schemeClr val="dk1"/>
                </a:solidFill>
              </a:rPr>
              <a:t>Adaptarme/Cambiar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71" name="Google Shape;471;p23"/>
          <p:cNvSpPr txBox="1"/>
          <p:nvPr/>
        </p:nvSpPr>
        <p:spPr>
          <a:xfrm>
            <a:off x="7623025" y="735400"/>
            <a:ext cx="2141400" cy="3885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ventas 275k U$ agosto - dic 23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3"/>
          <p:cNvSpPr txBox="1"/>
          <p:nvPr/>
        </p:nvSpPr>
        <p:spPr>
          <a:xfrm>
            <a:off x="9924150" y="1629250"/>
            <a:ext cx="1845000" cy="3885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Deuda de stock 68k U$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3"/>
          <p:cNvSpPr txBox="1"/>
          <p:nvPr/>
        </p:nvSpPr>
        <p:spPr>
          <a:xfrm>
            <a:off x="7576675" y="2222947"/>
            <a:ext cx="1753200" cy="3885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ticket promedio  5.200 U$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3"/>
          <p:cNvSpPr txBox="1"/>
          <p:nvPr/>
        </p:nvSpPr>
        <p:spPr>
          <a:xfrm>
            <a:off x="7576675" y="1208350"/>
            <a:ext cx="1753200" cy="457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Leads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negociación 625 K U$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3"/>
          <p:cNvSpPr txBox="1"/>
          <p:nvPr/>
        </p:nvSpPr>
        <p:spPr>
          <a:xfrm>
            <a:off x="9924150" y="2100875"/>
            <a:ext cx="1687800" cy="3885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Stock total 113k U$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3"/>
          <p:cNvSpPr txBox="1"/>
          <p:nvPr/>
        </p:nvSpPr>
        <p:spPr>
          <a:xfrm>
            <a:off x="7623025" y="2674150"/>
            <a:ext cx="2220000" cy="461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Proyectos y consult ganados 10 desde sept 23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3"/>
          <p:cNvSpPr txBox="1"/>
          <p:nvPr/>
        </p:nvSpPr>
        <p:spPr>
          <a:xfrm>
            <a:off x="10010993" y="735398"/>
            <a:ext cx="1753200" cy="3885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Saldo de caja -30k U$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3"/>
          <p:cNvSpPr txBox="1"/>
          <p:nvPr/>
        </p:nvSpPr>
        <p:spPr>
          <a:xfrm>
            <a:off x="10018393" y="1182316"/>
            <a:ext cx="1753200" cy="3885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Stock propio 25k U$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3"/>
          <p:cNvSpPr txBox="1"/>
          <p:nvPr/>
        </p:nvSpPr>
        <p:spPr>
          <a:xfrm rot="-198142">
            <a:off x="308052" y="5720993"/>
            <a:ext cx="2676845" cy="447444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Servicio de Mantas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eléctricas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la puna. “Heat Mat”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3"/>
          <p:cNvSpPr txBox="1"/>
          <p:nvPr/>
        </p:nvSpPr>
        <p:spPr>
          <a:xfrm rot="-180870">
            <a:off x="3230651" y="5256270"/>
            <a:ext cx="2635547" cy="323253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ES">
                <a:solidFill>
                  <a:schemeClr val="dk1"/>
                </a:solidFill>
              </a:rPr>
              <a:t>Aprender desde la curiosidad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81" name="Google Shape;481;p23"/>
          <p:cNvSpPr txBox="1"/>
          <p:nvPr/>
        </p:nvSpPr>
        <p:spPr>
          <a:xfrm>
            <a:off x="7576674" y="1750000"/>
            <a:ext cx="1959600" cy="3885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operaciones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cerradas 53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3"/>
          <p:cNvSpPr txBox="1"/>
          <p:nvPr/>
        </p:nvSpPr>
        <p:spPr>
          <a:xfrm>
            <a:off x="9970050" y="2572500"/>
            <a:ext cx="1753200" cy="568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obras/ventas/inst/PV entregadas 132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3"/>
          <p:cNvSpPr txBox="1"/>
          <p:nvPr/>
        </p:nvSpPr>
        <p:spPr>
          <a:xfrm rot="-181040">
            <a:off x="3354420" y="5686491"/>
            <a:ext cx="2388011" cy="396241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ES">
                <a:solidFill>
                  <a:schemeClr val="dk1"/>
                </a:solidFill>
              </a:rPr>
              <a:t>Construir y liderar equipos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3"/>
          <p:cNvSpPr txBox="1"/>
          <p:nvPr/>
        </p:nvSpPr>
        <p:spPr>
          <a:xfrm>
            <a:off x="7577125" y="3197425"/>
            <a:ext cx="2154000" cy="457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Deuda en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créditos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35k U$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AR$ tasa fija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3"/>
          <p:cNvSpPr txBox="1"/>
          <p:nvPr/>
        </p:nvSpPr>
        <p:spPr>
          <a:xfrm rot="220558">
            <a:off x="5229733" y="2645906"/>
            <a:ext cx="1614321" cy="407038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ES" sz="1800">
                <a:solidFill>
                  <a:schemeClr val="dk1"/>
                </a:solidFill>
              </a:rPr>
              <a:t>Compras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86" name="Google Shape;486;p23"/>
          <p:cNvSpPr txBox="1"/>
          <p:nvPr/>
        </p:nvSpPr>
        <p:spPr>
          <a:xfrm rot="-232927">
            <a:off x="369881" y="3116021"/>
            <a:ext cx="1781287" cy="60286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 casi  ya no me ocupo de lo operativo desde hace 3 o 4 meses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